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日本語補助ノート</a:t>
            </a:r>
          </a:p>
          <a:p/>
          <a:p>
            <a:r>
              <a:t>IACS向けには、行動モデルの予測と、現実の環境を変える実行、その後の人の結果を接続する問題として説明します。IACSの正式な開催予定や発表枠は未確認なので、予定日は記載していません。研究段階であることと、人への改善効果が未測定であることを明示します。</a:t>
            </a:r>
          </a:p>
          <a:p/>
          <a:p>
            <a:r>
              <a:t>CLAIM TYPE</a:t>
            </a:r>
          </a:p>
          <a:p>
            <a:r>
              <a:t>RESEARCH_QUESTION</a:t>
            </a:r>
          </a:p>
          <a:p/>
          <a:p>
            <a:r>
              <a:t>PRIMARY SOURCES</a:t>
            </a:r>
          </a:p>
          <a:p>
            <a:r>
              <a:t>Manager evidence definitions</a:t>
            </a:r>
          </a:p>
          <a:p>
            <a:r>
              <a:t>https://github.com/Daisuke134/life-manager/blob/ce75c0add1d9cec7de5ddcb9a9347dbd0c1632e5/products/manager/docs/MANAGER_PRODUCT_SPEC.md</a:t>
            </a:r>
          </a:p>
          <a:p/>
          <a:p>
            <a:r>
              <a:t>Park et al. Generative Agents: Interactive Simulacra of Human Behavior</a:t>
            </a:r>
          </a:p>
          <a:p>
            <a:r>
              <a:t>https://dl.acm.org/doi/10.1145/3586183.3606763</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日本語補助ノート</a:t>
            </a:r>
          </a:p>
          <a:p/>
          <a:p>
            <a:r>
              <a:t>観測とは、例えば公開ファイルの内容が期待したハッシュに一致することです。予測は、ある方策が今後の行動をどう変えるかというモデルの主張です。因果効果は、比較可能な条件との差として介入の結果を推定する主張です。三者は必要なデータと検証方法が異なります。表は概念整理であり、シミュレーションから得た予測値やManagerの効果推定を示しているわけではありません。</a:t>
            </a:r>
          </a:p>
          <a:p/>
          <a:p>
            <a:r>
              <a:t>CLAIM TYPE</a:t>
            </a:r>
          </a:p>
          <a:p>
            <a:r>
              <a:t>CONCEPTUAL_DISTINCTION</a:t>
            </a:r>
          </a:p>
          <a:p/>
          <a:p>
            <a:r>
              <a:t>PRIMARY SOURCES</a:t>
            </a:r>
          </a:p>
          <a:p>
            <a:r>
              <a:t>Manager evidence definitions</a:t>
            </a:r>
          </a:p>
          <a:p>
            <a:r>
              <a:t>https://github.com/Daisuke134/life-manager/blob/ce75c0add1d9cec7de5ddcb9a9347dbd0c1632e5/products/manager/docs/MANAGER_PRODUCT_SPEC.md</a:t>
            </a:r>
          </a:p>
          <a:p/>
          <a:p>
            <a:r>
              <a:t>Park et al. Generative Agents: Interactive Simulacra of Human Behavior</a:t>
            </a:r>
          </a:p>
          <a:p>
            <a:r>
              <a:t>https://dl.acm.org/doi/10.1145/3586183.3606763</a:t>
            </a:r>
          </a:p>
          <a:p/>
          <a:p>
            <a:r>
              <a:t>Klasnja et al. Efficacy of Contextually Tailored Suggestions for Physical Activity</a:t>
            </a:r>
          </a:p>
          <a:p>
            <a:r>
              <a:t>https://pmc.ncbi.nlm.nih.gov/articles/PMC6401341/</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日本語補助ノート</a:t>
            </a:r>
          </a:p>
          <a:p/>
          <a:p>
            <a:r>
              <a:t>これは実装の設計契約を説明する図表です。権限は目的、対象、範囲、期限を結びます。実行の受領証と独立した読み戻しは別の記録です。結果は元の単位と出所を保持します。ローカルなfixture署名は、外部の本物の操作権限になりません。この表だけでライブの端から端までの実行がすべて完成したとは主張していません。</a:t>
            </a:r>
          </a:p>
          <a:p/>
          <a:p>
            <a:r>
              <a:t>CLAIM TYPE</a:t>
            </a:r>
          </a:p>
          <a:p>
            <a:r>
              <a:t>DESIGN_CONTRACT</a:t>
            </a:r>
          </a:p>
          <a:p/>
          <a:p>
            <a:r>
              <a:t>PRIMARY SOURCES</a:t>
            </a:r>
          </a:p>
          <a:p>
            <a:r>
              <a:t>Manager evidence definitions</a:t>
            </a:r>
          </a:p>
          <a:p>
            <a:r>
              <a:t>https://github.com/Daisuke134/life-manager/blob/ce75c0add1d9cec7de5ddcb9a9347dbd0c1632e5/products/manager/docs/MANAGER_PRODUCT_SPEC.md</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日本語補助ノート</a:t>
            </a:r>
          </a:p>
          <a:p/>
          <a:p>
            <a:r>
              <a:t>この数字は、2026年10月21日14時36分UTCの既存の公開検証記録から取っています。6ページは一つの公開成果物を構成するHTMLであり、6回の人への介入ではありません。16件はブラウザの検査であり、16人の利用者ではありません。配信の確認はP2 artifact onlyです。公的支援に到達した人数や、精神・身体・経済面の改善効果は未測定のままです。後続のコード変更や新しいテスト総数を、この固定された記録に混ぜません。</a:t>
            </a:r>
          </a:p>
          <a:p/>
          <a:p>
            <a:r>
              <a:t>CLAIM TYPE</a:t>
            </a:r>
          </a:p>
          <a:p>
            <a:r>
              <a:t>OBSERVATION</a:t>
            </a:r>
          </a:p>
          <a:p/>
          <a:p>
            <a:r>
              <a:t>PRIMARY SOURCES</a:t>
            </a:r>
          </a:p>
          <a:p>
            <a:r>
              <a:t>Dated digital release evidence</a:t>
            </a:r>
          </a:p>
          <a:p>
            <a:r>
              <a:t>https://github.com/Daisuke134/life-manager/blob/ce75c0add1d9cec7de5ddcb9a9347dbd0c1632e5/products/manager/docs/verification/PHASE06_DIGITAL_SERVICE_EXECUTION_20261021.md</a:t>
            </a:r>
          </a:p>
          <a:p/>
          <a:p>
            <a:r>
              <a:t>Source/build/readback run</a:t>
            </a:r>
          </a:p>
          <a:p>
            <a:r>
              <a:t>https://github.com/Daisuke134/life-manager/actions/runs/39617848783</a:t>
            </a:r>
          </a:p>
          <a:p/>
          <a:p>
            <a:r>
              <a:t>Pages deployment run</a:t>
            </a:r>
          </a:p>
          <a:p>
            <a:r>
              <a:t>https://github.com/Daisuke134/life-manager/actions/runs/39618047098</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日本語補助ノート</a:t>
            </a:r>
          </a:p>
          <a:p/>
          <a:p>
            <a:r>
              <a:t>4つの研究方法を同じ競技のランキングにせず、何を検証できるかで対応させています。適応的介入では繰り返しの意思決定と利用可能性が重要です。複数アームの現地実験では共通条件下で比較します。受給者研究では資金の移転とその後の生活を分けます。生成的シミュレーションでは未知の行動に対する再現性を問います。公開人物マップは13名を原著と公開成果に結びますが、交流や推薦は主張しません。</a:t>
            </a:r>
          </a:p>
          <a:p/>
          <a:p>
            <a:r>
              <a:t>CLAIM TYPE</a:t>
            </a:r>
          </a:p>
          <a:p>
            <a:r>
              <a:t>LITERATURE_AND_INFERENCE</a:t>
            </a:r>
          </a:p>
          <a:p/>
          <a:p>
            <a:r>
              <a:t>PRIMARY SOURCES</a:t>
            </a:r>
          </a:p>
          <a:p>
            <a:r>
              <a:t>Klasnja et al. Efficacy of Contextually Tailored Suggestions for Physical Activity</a:t>
            </a:r>
          </a:p>
          <a:p>
            <a:r>
              <a:t>https://pmc.ncbi.nlm.nih.gov/articles/PMC6401341/</a:t>
            </a:r>
          </a:p>
          <a:p/>
          <a:p>
            <a:r>
              <a:t>Nahum-Shani et al. JITAI key components and design principles</a:t>
            </a:r>
          </a:p>
          <a:p>
            <a:r>
              <a:t>https://pmc.ncbi.nlm.nih.gov/articles/PMC5364076/</a:t>
            </a:r>
          </a:p>
          <a:p/>
          <a:p>
            <a:r>
              <a:t>Milkman et al. Megastudies improve the impact of applied behavioural science</a:t>
            </a:r>
          </a:p>
          <a:p>
            <a:r>
              <a:t>https://www.nature.com/articles/s41586-021-04128-4</a:t>
            </a:r>
          </a:p>
          <a:p/>
          <a:p>
            <a:r>
              <a:t>Haushofer and Shapiro: Short-Term Impact of Unconditional Cash Transfers</a:t>
            </a:r>
          </a:p>
          <a:p>
            <a:r>
              <a:t>https://pmc.ncbi.nlm.nih.gov/articles/PMC7575201/</a:t>
            </a:r>
          </a:p>
          <a:p/>
          <a:p>
            <a:r>
              <a:t>Park et al. Generative Agents: Interactive Simulacra of Human Behavior</a:t>
            </a:r>
          </a:p>
          <a:p>
            <a:r>
              <a:t>https://dl.acm.org/doi/10.1145/3586183.3606763</a:t>
            </a:r>
          </a:p>
          <a:p/>
          <a:p>
            <a:r>
              <a:t>13-researcher source map</a:t>
            </a:r>
          </a:p>
          <a:p>
            <a:r>
              <a:t>products/manager/docs/research/RESEARCHER_PUBLIC_SOURCE_MAP.md</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日本語補助ノート</a:t>
            </a:r>
          </a:p>
          <a:p/>
          <a:p>
            <a:r>
              <a:t>6.6%はイングランドの16歳以上の成人に関する公式集計で、期間は2024年10月から2025年3月です。見出しでは7%に丸められています。3〜9は別の間接的な3項目尺度の採点範囲であり、6.6%の計算から得た値ではありません。公的な集計でも、個々の閲覧者の孤独感は推定できません。日本の対象集団やManagerの介入効果への外挿もしません。ONSは2025年8月に尺度の正式名称を訂正しています。</a:t>
            </a:r>
          </a:p>
          <a:p/>
          <a:p>
            <a:r>
              <a:t>CLAIM TYPE</a:t>
            </a:r>
          </a:p>
          <a:p>
            <a:r>
              <a:t>PUBLIC_AGGREGATE_AND_DEFINITION</a:t>
            </a:r>
          </a:p>
          <a:p/>
          <a:p>
            <a:r>
              <a:t>PRIMARY SOURCES</a:t>
            </a:r>
          </a:p>
          <a:p>
            <a:r>
              <a:t>Community Life Survey 2024/25: Loneliness and support networks</a:t>
            </a:r>
          </a:p>
          <a:p>
            <a:r>
              <a:t>https://www.gov.uk/government/statistics/community-life-survey-202425-annual-publication/community-life-survey-202425-loneliness-and-support-networks</a:t>
            </a:r>
          </a:p>
          <a:p/>
          <a:p>
            <a:r>
              <a:t>ONS Measuring loneliness: guidance for use of national indicators</a:t>
            </a:r>
          </a:p>
          <a:p>
            <a:r>
              <a:t>https://www.ons.gov.uk/peoplepopulationandcommunity/wellbeing/methodologies/measuringlonelinessguidanceforuseofthenationalindicatorsonsurveys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日本語補助ノート</a:t>
            </a:r>
          </a:p>
          <a:p/>
          <a:p>
            <a:r>
              <a:t>P2のデジタル成果物の存在は事実ですが、P3の人の結果を測定したことにはなりません。P4には比較、費用、害、推定の不確実性が必要で、P5には再現が必要です。欠測をゼロとして扱わず、悪化と無効を含めて同じ水準で証拠を残します。異なる領域の単位も維持し、一つの便益点数へ任意に足し合わせません。</a:t>
            </a:r>
          </a:p>
          <a:p/>
          <a:p>
            <a:r>
              <a:t>CLAIM TYPE</a:t>
            </a:r>
          </a:p>
          <a:p>
            <a:r>
              <a:t>DEFINITION_AND_OBSERVATION</a:t>
            </a:r>
          </a:p>
          <a:p/>
          <a:p>
            <a:r>
              <a:t>PRIMARY SOURCES</a:t>
            </a:r>
          </a:p>
          <a:p>
            <a:r>
              <a:t>Manager evidence definitions</a:t>
            </a:r>
          </a:p>
          <a:p>
            <a:r>
              <a:t>https://github.com/Daisuke134/life-manager/blob/ce75c0add1d9cec7de5ddcb9a9347dbd0c1632e5/products/manager/docs/MANAGER_PRODUCT_SPEC.md</a:t>
            </a:r>
          </a:p>
          <a:p/>
          <a:p>
            <a:r>
              <a:t>Dated digital release evidence</a:t>
            </a:r>
          </a:p>
          <a:p>
            <a:r>
              <a:t>https://github.com/Daisuke134/life-manager/blob/ce75c0add1d9cec7de5ddcb9a9347dbd0c1632e5/products/manager/docs/verification/PHASE06_DIGITAL_SERVICE_EXECUTION_20261021.md</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日本語補助ノート</a:t>
            </a:r>
          </a:p>
          <a:p/>
          <a:p>
            <a:r>
              <a:t>問いは、モデルがもっともらしい答えを出すかだけでなく、どの観測によって方策を棄却できるかです。現地の観測者と比較設計がなければ人への純改善を主張できません。Simileの公式ページも人による検証と不確実性を説明しているため、他社は人で検証しないという比較は行いません。Managerの仮説は、権限から実行と検証、結果までの接続が役立つかどうかです。</a:t>
            </a:r>
          </a:p>
          <a:p/>
          <a:p>
            <a:r>
              <a:t>CLAIM TYPE</a:t>
            </a:r>
          </a:p>
          <a:p>
            <a:r>
              <a:t>RESEARCH_QUESTION</a:t>
            </a:r>
          </a:p>
          <a:p/>
          <a:p>
            <a:r>
              <a:t>PRIMARY SOURCES</a:t>
            </a:r>
          </a:p>
          <a:p>
            <a:r>
              <a:t>Provisional first wedge</a:t>
            </a:r>
          </a:p>
          <a:p>
            <a:r>
              <a:t>products/manager/docs/product/FIRST_WEDGE.md</a:t>
            </a:r>
          </a:p>
          <a:p/>
          <a:p>
            <a:r>
              <a:t>Outcome measurement map</a:t>
            </a:r>
          </a:p>
          <a:p>
            <a:r>
              <a:t>products/manager/docs/research/MENTAL_PUBLIC_AGGREGATE_MAP.md</a:t>
            </a:r>
          </a:p>
          <a:p/>
          <a:p>
            <a:r>
              <a:t>Simile official company site</a:t>
            </a:r>
          </a:p>
          <a:p>
            <a:r>
              <a:t>https://www.simile.com/</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hyperlink" Target="https://github.com/Daisuke134/life-manager/blob/ce75c0add1d9cec7de5ddcb9a9347dbd0c1632e5/products/manager/docs/MANAGER_PRODUCT_SPEC.md" TargetMode="External"/><Relationship Id="rId4" Type="http://schemas.openxmlformats.org/officeDocument/2006/relationships/hyperlink" Target="https://dl.acm.org/doi/10.1145/3586183.360676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hyperlink" Target="https://github.com/Daisuke134/life-manager/blob/ce75c0add1d9cec7de5ddcb9a9347dbd0c1632e5/products/manager/docs/MANAGER_PRODUCT_SPEC.md" TargetMode="External"/><Relationship Id="rId4" Type="http://schemas.openxmlformats.org/officeDocument/2006/relationships/hyperlink" Target="https://dl.acm.org/doi/10.1145/3586183.3606763" TargetMode="External"/><Relationship Id="rId5" Type="http://schemas.openxmlformats.org/officeDocument/2006/relationships/hyperlink" Target="https://pmc.ncbi.nlm.nih.gov/articles/PMC6401341/"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hyperlink" Target="https://github.com/Daisuke134/life-manager/blob/ce75c0add1d9cec7de5ddcb9a9347dbd0c1632e5/products/manager/docs/MANAGER_PRODUCT_SPEC.md"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hyperlink" Target="https://github.com/Daisuke134/life-manager/blob/ce75c0add1d9cec7de5ddcb9a9347dbd0c1632e5/products/manager/docs/verification/PHASE06_DIGITAL_SERVICE_EXECUTION_20261021.md" TargetMode="External"/><Relationship Id="rId4" Type="http://schemas.openxmlformats.org/officeDocument/2006/relationships/hyperlink" Target="https://github.com/Daisuke134/life-manager/actions/runs/39617848783" TargetMode="External"/><Relationship Id="rId5" Type="http://schemas.openxmlformats.org/officeDocument/2006/relationships/hyperlink" Target="https://github.com/Daisuke134/life-manager/actions/runs/39618047098"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hyperlink" Target="https://pmc.ncbi.nlm.nih.gov/articles/PMC6401341/" TargetMode="External"/><Relationship Id="rId4" Type="http://schemas.openxmlformats.org/officeDocument/2006/relationships/hyperlink" Target="https://pmc.ncbi.nlm.nih.gov/articles/PMC5364076/" TargetMode="External"/><Relationship Id="rId5" Type="http://schemas.openxmlformats.org/officeDocument/2006/relationships/hyperlink" Target="https://www.nature.com/articles/s41586-021-04128-4" TargetMode="External"/><Relationship Id="rId6" Type="http://schemas.openxmlformats.org/officeDocument/2006/relationships/hyperlink" Target="https://pmc.ncbi.nlm.nih.gov/articles/PMC7575201/" TargetMode="External"/><Relationship Id="rId7" Type="http://schemas.openxmlformats.org/officeDocument/2006/relationships/hyperlink" Target="https://dl.acm.org/doi/10.1145/3586183.3606763"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hyperlink" Target="https://www.gov.uk/government/statistics/community-life-survey-202425-annual-publication/community-life-survey-202425-loneliness-and-support-networks" TargetMode="External"/><Relationship Id="rId4" Type="http://schemas.openxmlformats.org/officeDocument/2006/relationships/hyperlink" Target="https://www.ons.gov.uk/peoplepopulationandcommunity/wellbeing/methodologies/measuringlonelinessguidanceforuseofthenationalindicatorsonsurvey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hyperlink" Target="https://github.com/Daisuke134/life-manager/blob/ce75c0add1d9cec7de5ddcb9a9347dbd0c1632e5/products/manager/docs/MANAGER_PRODUCT_SPEC.md" TargetMode="External"/><Relationship Id="rId4" Type="http://schemas.openxmlformats.org/officeDocument/2006/relationships/hyperlink" Target="https://github.com/Daisuke134/life-manager/blob/ce75c0add1d9cec7de5ddcb9a9347dbd0c1632e5/products/manager/docs/verification/PHASE06_DIGITAL_SERVICE_EXECUTION_20261021.md"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hyperlink" Target="https://www.simile.com/"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1428"/>
        </a:solidFill>
        <a:effectLst/>
      </p:bgPr>
    </p:bg>
    <p:spTree>
      <p:nvGrpSpPr>
        <p:cNvPr id="1" name=""/>
        <p:cNvGrpSpPr/>
        <p:nvPr/>
      </p:nvGrpSpPr>
      <p:grpSpPr/>
      <p:sp>
        <p:nvSpPr>
          <p:cNvPr id="2" name="TextBox 1"/>
          <p:cNvSpPr txBox="1"/>
          <p:nvPr/>
        </p:nvSpPr>
        <p:spPr>
          <a:xfrm>
            <a:off x="722376" y="758952"/>
            <a:ext cx="10744200" cy="594360"/>
          </a:xfrm>
          <a:prstGeom prst="rect">
            <a:avLst/>
          </a:prstGeom>
          <a:noFill/>
        </p:spPr>
        <p:txBody>
          <a:bodyPr wrap="square" lIns="0" rIns="0" tIns="22860" bIns="22860">
            <a:spAutoFit/>
          </a:bodyPr>
          <a:lstStyle/>
          <a:p>
            <a:pPr>
              <a:lnSpc>
                <a:spcPct val="108000"/>
              </a:lnSpc>
              <a:spcBef>
                <a:spcPts val="0"/>
              </a:spcBef>
              <a:spcAft>
                <a:spcPts val="400"/>
              </a:spcAft>
              <a:defRPr sz="2000" b="0">
                <a:solidFill>
                  <a:srgbClr val="63E2BD"/>
                </a:solidFill>
                <a:latin typeface="DejaVu Sans"/>
              </a:defRPr>
            </a:pPr>
            <a:r>
              <a:t>Manager discussion for an IACS audience</a:t>
            </a:r>
          </a:p>
        </p:txBody>
      </p:sp>
      <p:sp>
        <p:nvSpPr>
          <p:cNvPr id="3" name="TextBox 2"/>
          <p:cNvSpPr txBox="1"/>
          <p:nvPr/>
        </p:nvSpPr>
        <p:spPr>
          <a:xfrm>
            <a:off x="685800" y="1892807"/>
            <a:ext cx="10789920" cy="1920240"/>
          </a:xfrm>
          <a:prstGeom prst="rect">
            <a:avLst/>
          </a:prstGeom>
          <a:noFill/>
        </p:spPr>
        <p:txBody>
          <a:bodyPr wrap="square" lIns="0" rIns="0" tIns="22860" bIns="22860">
            <a:spAutoFit/>
          </a:bodyPr>
          <a:lstStyle/>
          <a:p>
            <a:pPr>
              <a:lnSpc>
                <a:spcPct val="108000"/>
              </a:lnSpc>
              <a:spcBef>
                <a:spcPts val="0"/>
              </a:spcBef>
              <a:spcAft>
                <a:spcPts val="400"/>
              </a:spcAft>
              <a:defRPr sz="4600" b="1">
                <a:solidFill>
                  <a:srgbClr val="FCFDFE"/>
                </a:solidFill>
                <a:latin typeface="DejaVu Sans"/>
              </a:defRPr>
            </a:pPr>
            <a:r>
              <a:t>Accountable autonomous</a:t>
            </a:r>
          </a:p>
          <a:p>
            <a:pPr>
              <a:lnSpc>
                <a:spcPct val="108000"/>
              </a:lnSpc>
              <a:spcBef>
                <a:spcPts val="0"/>
              </a:spcBef>
              <a:spcAft>
                <a:spcPts val="400"/>
              </a:spcAft>
              <a:defRPr sz="4600" b="1">
                <a:solidFill>
                  <a:srgbClr val="FCFDFE"/>
                </a:solidFill>
                <a:latin typeface="DejaVu Sans"/>
              </a:defRPr>
            </a:pPr>
            <a:r>
              <a:t>intervention</a:t>
            </a:r>
          </a:p>
        </p:txBody>
      </p:sp>
      <p:sp>
        <p:nvSpPr>
          <p:cNvPr id="4" name="TextBox 3"/>
          <p:cNvSpPr txBox="1"/>
          <p:nvPr/>
        </p:nvSpPr>
        <p:spPr>
          <a:xfrm>
            <a:off x="722376" y="4663440"/>
            <a:ext cx="10515600" cy="914400"/>
          </a:xfrm>
          <a:prstGeom prst="rect">
            <a:avLst/>
          </a:prstGeom>
          <a:noFill/>
        </p:spPr>
        <p:txBody>
          <a:bodyPr wrap="square" lIns="0" rIns="0" tIns="22860" bIns="22860">
            <a:spAutoFit/>
          </a:bodyPr>
          <a:lstStyle/>
          <a:p>
            <a:pPr>
              <a:lnSpc>
                <a:spcPct val="108000"/>
              </a:lnSpc>
              <a:spcBef>
                <a:spcPts val="0"/>
              </a:spcBef>
              <a:spcAft>
                <a:spcPts val="400"/>
              </a:spcAft>
              <a:defRPr sz="2400" b="0">
                <a:solidFill>
                  <a:srgbClr val="E9FAFC"/>
                </a:solidFill>
                <a:latin typeface="DejaVu Sans"/>
              </a:defRPr>
            </a:pPr>
            <a:r>
              <a:t>Connecting behavioral models to observable changes</a:t>
            </a:r>
          </a:p>
        </p:txBody>
      </p:sp>
      <p:sp>
        <p:nvSpPr>
          <p:cNvPr id="5" name="TextBox 4"/>
          <p:cNvSpPr txBox="1"/>
          <p:nvPr/>
        </p:nvSpPr>
        <p:spPr>
          <a:xfrm>
            <a:off x="704088" y="6400800"/>
            <a:ext cx="10287000" cy="283464"/>
          </a:xfrm>
          <a:prstGeom prst="rect">
            <a:avLst/>
          </a:prstGeom>
          <a:noFill/>
        </p:spPr>
        <p:txBody>
          <a:bodyPr wrap="square" lIns="0" rIns="0" tIns="22860" bIns="22860">
            <a:spAutoFit/>
          </a:bodyPr>
          <a:lstStyle/>
          <a:p>
            <a:pPr>
              <a:lnSpc>
                <a:spcPct val="108000"/>
              </a:lnSpc>
              <a:spcBef>
                <a:spcPts val="0"/>
              </a:spcBef>
              <a:spcAft>
                <a:spcPts val="400"/>
              </a:spcAft>
              <a:defRPr sz="950" b="0">
                <a:solidFill>
                  <a:srgbClr val="ABC1CE"/>
                </a:solidFill>
                <a:latin typeface="DejaVu Sans"/>
              </a:defRPr>
            </a:pPr>
            <a:r>
              <a:t>Sources: </a:t>
            </a:r>
            <a:r>
              <a:rPr>
                <a:solidFill>
                  <a:srgbClr val="ABC1CE"/>
                </a:solidFill>
                <a:hlinkClick r:id="rId3"/>
              </a:rPr>
              <a:t>Manager spec</a:t>
            </a:r>
            <a:r>
              <a:t> / </a:t>
            </a:r>
            <a:r>
              <a:rPr>
                <a:solidFill>
                  <a:srgbClr val="ABC1CE"/>
                </a:solidFill>
                <a:hlinkClick r:id="rId4"/>
              </a:rPr>
              <a:t>Park et al. 2023</a:t>
            </a:r>
          </a:p>
        </p:txBody>
      </p:sp>
      <p:sp>
        <p:nvSpPr>
          <p:cNvPr id="6" name="TextBox 5"/>
          <p:cNvSpPr txBox="1"/>
          <p:nvPr/>
        </p:nvSpPr>
        <p:spPr>
          <a:xfrm>
            <a:off x="11064240" y="6382512"/>
            <a:ext cx="411480" cy="292608"/>
          </a:xfrm>
          <a:prstGeom prst="rect">
            <a:avLst/>
          </a:prstGeom>
          <a:noFill/>
        </p:spPr>
        <p:txBody>
          <a:bodyPr wrap="square" lIns="0" rIns="0" tIns="22860" bIns="22860">
            <a:spAutoFit/>
          </a:bodyPr>
          <a:lstStyle/>
          <a:p>
            <a:pPr>
              <a:lnSpc>
                <a:spcPct val="108000"/>
              </a:lnSpc>
              <a:spcBef>
                <a:spcPts val="0"/>
              </a:spcBef>
              <a:spcAft>
                <a:spcPts val="400"/>
              </a:spcAft>
              <a:defRPr sz="1100" b="1">
                <a:solidFill>
                  <a:srgbClr val="63E2BD"/>
                </a:solidFill>
                <a:latin typeface="DejaVu Sans"/>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1428"/>
        </a:solidFill>
        <a:effectLst/>
      </p:bgPr>
    </p:bg>
    <p:spTree>
      <p:nvGrpSpPr>
        <p:cNvPr id="1" name=""/>
        <p:cNvGrpSpPr/>
        <p:nvPr/>
      </p:nvGrpSpPr>
      <p:grpSpPr/>
      <p:sp>
        <p:nvSpPr>
          <p:cNvPr id="2" name="TextBox 1"/>
          <p:cNvSpPr txBox="1"/>
          <p:nvPr/>
        </p:nvSpPr>
        <p:spPr>
          <a:xfrm>
            <a:off x="685800" y="576072"/>
            <a:ext cx="10881360" cy="941832"/>
          </a:xfrm>
          <a:prstGeom prst="rect">
            <a:avLst/>
          </a:prstGeom>
          <a:noFill/>
        </p:spPr>
        <p:txBody>
          <a:bodyPr wrap="square" lIns="0" rIns="0" tIns="22860" bIns="22860">
            <a:spAutoFit/>
          </a:bodyPr>
          <a:lstStyle/>
          <a:p>
            <a:pPr>
              <a:lnSpc>
                <a:spcPct val="108000"/>
              </a:lnSpc>
              <a:spcBef>
                <a:spcPts val="0"/>
              </a:spcBef>
              <a:spcAft>
                <a:spcPts val="400"/>
              </a:spcAft>
              <a:defRPr sz="3100" b="1">
                <a:solidFill>
                  <a:srgbClr val="FCFDFE"/>
                </a:solidFill>
                <a:latin typeface="DejaVu Sans"/>
              </a:defRPr>
            </a:pPr>
            <a:r>
              <a:t>Observation, prediction and effect</a:t>
            </a:r>
          </a:p>
        </p:txBody>
      </p:sp>
      <p:sp>
        <p:nvSpPr>
          <p:cNvPr id="3" name="TextBox 2"/>
          <p:cNvSpPr txBox="1"/>
          <p:nvPr/>
        </p:nvSpPr>
        <p:spPr>
          <a:xfrm>
            <a:off x="722376" y="1508760"/>
            <a:ext cx="10698480" cy="475488"/>
          </a:xfrm>
          <a:prstGeom prst="rect">
            <a:avLst/>
          </a:prstGeom>
          <a:noFill/>
        </p:spPr>
        <p:txBody>
          <a:bodyPr wrap="square" lIns="0" rIns="0" tIns="22860" bIns="22860">
            <a:spAutoFit/>
          </a:bodyPr>
          <a:lstStyle/>
          <a:p>
            <a:pPr>
              <a:lnSpc>
                <a:spcPct val="108000"/>
              </a:lnSpc>
              <a:spcBef>
                <a:spcPts val="0"/>
              </a:spcBef>
              <a:spcAft>
                <a:spcPts val="400"/>
              </a:spcAft>
              <a:defRPr sz="1600" b="0">
                <a:solidFill>
                  <a:srgbClr val="ABC1CE"/>
                </a:solidFill>
                <a:latin typeface="DejaVu Sans"/>
              </a:defRPr>
            </a:pPr>
            <a:r>
              <a:t>Three statements require different evidence</a:t>
            </a:r>
          </a:p>
        </p:txBody>
      </p:sp>
      <p:graphicFrame>
        <p:nvGraphicFramePr>
          <p:cNvPr id="4" name="Table 3"/>
          <p:cNvGraphicFramePr>
            <a:graphicFrameLocks noGrp="1"/>
          </p:cNvGraphicFramePr>
          <p:nvPr/>
        </p:nvGraphicFramePr>
        <p:xfrm>
          <a:off x="704088" y="2084831"/>
          <a:ext cx="10835640" cy="3337557"/>
        </p:xfrm>
        <a:graphic>
          <a:graphicData uri="http://schemas.openxmlformats.org/drawingml/2006/table">
            <a:tbl>
              <a:tblPr firstRow="1" bandRow="1">
                <a:tableStyleId>{5C22544A-7EE6-4342-B048-85BDC9FD1C3A}</a:tableStyleId>
              </a:tblPr>
              <a:tblGrid>
                <a:gridCol w="2377440"/>
                <a:gridCol w="4297680"/>
                <a:gridCol w="4160520"/>
              </a:tblGrid>
              <a:tr h="502920">
                <a:tc>
                  <a:txBody>
                    <a:bodyPr/>
                    <a:lstStyle/>
                    <a:p>
                      <a:pPr>
                        <a:lnSpc>
                          <a:spcPct val="108000"/>
                        </a:lnSpc>
                        <a:spcAft>
                          <a:spcPts val="0"/>
                        </a:spcAft>
                        <a:defRPr sz="1700" b="1">
                          <a:solidFill>
                            <a:srgbClr val="63E2BD"/>
                          </a:solidFill>
                          <a:latin typeface="DejaVu Sans"/>
                        </a:defRPr>
                      </a:pPr>
                      <a:r>
                        <a:t>Statement</a:t>
                      </a:r>
                    </a:p>
                  </a:txBody>
                  <a:tcPr marL="118872" marR="118872" marT="73152" marB="73152" anchor="ctr">
                    <a:solidFill>
                      <a:srgbClr val="173046"/>
                    </a:solidFill>
                  </a:tcPr>
                </a:tc>
                <a:tc>
                  <a:txBody>
                    <a:bodyPr/>
                    <a:lstStyle/>
                    <a:p>
                      <a:pPr>
                        <a:lnSpc>
                          <a:spcPct val="108000"/>
                        </a:lnSpc>
                        <a:spcAft>
                          <a:spcPts val="0"/>
                        </a:spcAft>
                        <a:defRPr sz="1700" b="1">
                          <a:solidFill>
                            <a:srgbClr val="63E2BD"/>
                          </a:solidFill>
                          <a:latin typeface="DejaVu Sans"/>
                        </a:defRPr>
                      </a:pPr>
                      <a:r>
                        <a:t>Example</a:t>
                      </a:r>
                    </a:p>
                  </a:txBody>
                  <a:tcPr marL="118872" marR="118872" marT="73152" marB="73152" anchor="ctr">
                    <a:solidFill>
                      <a:srgbClr val="173046"/>
                    </a:solidFill>
                  </a:tcPr>
                </a:tc>
                <a:tc>
                  <a:txBody>
                    <a:bodyPr/>
                    <a:lstStyle/>
                    <a:p>
                      <a:pPr>
                        <a:lnSpc>
                          <a:spcPct val="108000"/>
                        </a:lnSpc>
                        <a:spcAft>
                          <a:spcPts val="0"/>
                        </a:spcAft>
                        <a:defRPr sz="1700" b="1">
                          <a:solidFill>
                            <a:srgbClr val="63E2BD"/>
                          </a:solidFill>
                          <a:latin typeface="DejaVu Sans"/>
                        </a:defRPr>
                      </a:pPr>
                      <a:r>
                        <a:t>Required support</a:t>
                      </a:r>
                    </a:p>
                  </a:txBody>
                  <a:tcPr marL="118872" marR="118872" marT="73152" marB="73152" anchor="ctr">
                    <a:solidFill>
                      <a:srgbClr val="173046"/>
                    </a:solidFill>
                  </a:tcPr>
                </a:tc>
              </a:tr>
              <a:tr h="944879">
                <a:tc>
                  <a:txBody>
                    <a:bodyPr/>
                    <a:lstStyle/>
                    <a:p>
                      <a:pPr>
                        <a:lnSpc>
                          <a:spcPct val="108000"/>
                        </a:lnSpc>
                        <a:spcAft>
                          <a:spcPts val="0"/>
                        </a:spcAft>
                        <a:defRPr sz="1800" b="0">
                          <a:solidFill>
                            <a:srgbClr val="E9FAFC"/>
                          </a:solidFill>
                          <a:latin typeface="DejaVu Sans"/>
                        </a:defRPr>
                      </a:pPr>
                      <a:r>
                        <a:t>Observation</a:t>
                      </a:r>
                    </a:p>
                  </a:txBody>
                  <a:tcPr marL="118872" marR="118872" marT="73152" marB="73152" anchor="ctr">
                    <a:solidFill>
                      <a:srgbClr val="10253A"/>
                    </a:solidFill>
                  </a:tcPr>
                </a:tc>
                <a:tc>
                  <a:txBody>
                    <a:bodyPr/>
                    <a:lstStyle/>
                    <a:p>
                      <a:pPr>
                        <a:lnSpc>
                          <a:spcPct val="108000"/>
                        </a:lnSpc>
                        <a:spcAft>
                          <a:spcPts val="0"/>
                        </a:spcAft>
                        <a:defRPr sz="1800" b="0">
                          <a:solidFill>
                            <a:srgbClr val="E9FAFC"/>
                          </a:solidFill>
                          <a:latin typeface="DejaVu Sans"/>
                        </a:defRPr>
                      </a:pPr>
                      <a:r>
                        <a:t>The served file matches its digest</a:t>
                      </a:r>
                    </a:p>
                  </a:txBody>
                  <a:tcPr marL="118872" marR="118872" marT="73152" marB="73152" anchor="ctr">
                    <a:solidFill>
                      <a:srgbClr val="10253A"/>
                    </a:solidFill>
                  </a:tcPr>
                </a:tc>
                <a:tc>
                  <a:txBody>
                    <a:bodyPr/>
                    <a:lstStyle/>
                    <a:p>
                      <a:pPr>
                        <a:lnSpc>
                          <a:spcPct val="108000"/>
                        </a:lnSpc>
                        <a:spcAft>
                          <a:spcPts val="0"/>
                        </a:spcAft>
                        <a:defRPr sz="1800" b="0">
                          <a:solidFill>
                            <a:srgbClr val="E9FAFC"/>
                          </a:solidFill>
                          <a:latin typeface="DejaVu Sans"/>
                        </a:defRPr>
                      </a:pPr>
                      <a:r>
                        <a:t>Independent readback</a:t>
                      </a:r>
                    </a:p>
                  </a:txBody>
                  <a:tcPr marL="118872" marR="118872" marT="73152" marB="73152" anchor="ctr">
                    <a:solidFill>
                      <a:srgbClr val="10253A"/>
                    </a:solidFill>
                  </a:tcPr>
                </a:tc>
              </a:tr>
              <a:tr h="944879">
                <a:tc>
                  <a:txBody>
                    <a:bodyPr/>
                    <a:lstStyle/>
                    <a:p>
                      <a:pPr>
                        <a:lnSpc>
                          <a:spcPct val="108000"/>
                        </a:lnSpc>
                        <a:spcAft>
                          <a:spcPts val="0"/>
                        </a:spcAft>
                        <a:defRPr sz="1800" b="0">
                          <a:solidFill>
                            <a:srgbClr val="E9FAFC"/>
                          </a:solidFill>
                          <a:latin typeface="DejaVu Sans"/>
                        </a:defRPr>
                      </a:pPr>
                      <a:r>
                        <a:t>Prediction</a:t>
                      </a:r>
                    </a:p>
                  </a:txBody>
                  <a:tcPr marL="118872" marR="118872" marT="73152" marB="73152" anchor="ctr">
                    <a:solidFill>
                      <a:srgbClr val="081428"/>
                    </a:solidFill>
                  </a:tcPr>
                </a:tc>
                <a:tc>
                  <a:txBody>
                    <a:bodyPr/>
                    <a:lstStyle/>
                    <a:p>
                      <a:pPr>
                        <a:lnSpc>
                          <a:spcPct val="108000"/>
                        </a:lnSpc>
                        <a:spcAft>
                          <a:spcPts val="0"/>
                        </a:spcAft>
                        <a:defRPr sz="1800" b="0">
                          <a:solidFill>
                            <a:srgbClr val="E9FAFC"/>
                          </a:solidFill>
                          <a:latin typeface="DejaVu Sans"/>
                        </a:defRPr>
                      </a:pPr>
                      <a:r>
                        <a:t>A policy may improve access</a:t>
                      </a:r>
                    </a:p>
                  </a:txBody>
                  <a:tcPr marL="118872" marR="118872" marT="73152" marB="73152" anchor="ctr">
                    <a:solidFill>
                      <a:srgbClr val="081428"/>
                    </a:solidFill>
                  </a:tcPr>
                </a:tc>
                <a:tc>
                  <a:txBody>
                    <a:bodyPr/>
                    <a:lstStyle/>
                    <a:p>
                      <a:pPr>
                        <a:lnSpc>
                          <a:spcPct val="108000"/>
                        </a:lnSpc>
                        <a:spcAft>
                          <a:spcPts val="0"/>
                        </a:spcAft>
                        <a:defRPr sz="1800" b="0">
                          <a:solidFill>
                            <a:srgbClr val="E9FAFC"/>
                          </a:solidFill>
                          <a:latin typeface="DejaVu Sans"/>
                        </a:defRPr>
                      </a:pPr>
                      <a:r>
                        <a:t>Held-out predictive evaluation</a:t>
                      </a:r>
                    </a:p>
                  </a:txBody>
                  <a:tcPr marL="118872" marR="118872" marT="73152" marB="73152" anchor="ctr">
                    <a:solidFill>
                      <a:srgbClr val="081428"/>
                    </a:solidFill>
                  </a:tcPr>
                </a:tc>
              </a:tr>
              <a:tr h="944879">
                <a:tc>
                  <a:txBody>
                    <a:bodyPr/>
                    <a:lstStyle/>
                    <a:p>
                      <a:pPr>
                        <a:lnSpc>
                          <a:spcPct val="108000"/>
                        </a:lnSpc>
                        <a:spcAft>
                          <a:spcPts val="0"/>
                        </a:spcAft>
                        <a:defRPr sz="1800" b="0">
                          <a:solidFill>
                            <a:srgbClr val="E9FAFC"/>
                          </a:solidFill>
                          <a:latin typeface="DejaVu Sans"/>
                        </a:defRPr>
                      </a:pPr>
                      <a:r>
                        <a:t>Causal effect</a:t>
                      </a:r>
                    </a:p>
                  </a:txBody>
                  <a:tcPr marL="118872" marR="118872" marT="73152" marB="73152" anchor="ctr">
                    <a:solidFill>
                      <a:srgbClr val="10253A"/>
                    </a:solidFill>
                  </a:tcPr>
                </a:tc>
                <a:tc>
                  <a:txBody>
                    <a:bodyPr/>
                    <a:lstStyle/>
                    <a:p>
                      <a:pPr>
                        <a:lnSpc>
                          <a:spcPct val="108000"/>
                        </a:lnSpc>
                        <a:spcAft>
                          <a:spcPts val="0"/>
                        </a:spcAft>
                        <a:defRPr sz="1800" b="0">
                          <a:solidFill>
                            <a:srgbClr val="E9FAFC"/>
                          </a:solidFill>
                          <a:latin typeface="DejaVu Sans"/>
                        </a:defRPr>
                      </a:pPr>
                      <a:r>
                        <a:t>The policy improved access</a:t>
                      </a:r>
                    </a:p>
                  </a:txBody>
                  <a:tcPr marL="118872" marR="118872" marT="73152" marB="73152" anchor="ctr">
                    <a:solidFill>
                      <a:srgbClr val="10253A"/>
                    </a:solidFill>
                  </a:tcPr>
                </a:tc>
                <a:tc>
                  <a:txBody>
                    <a:bodyPr/>
                    <a:lstStyle/>
                    <a:p>
                      <a:pPr>
                        <a:lnSpc>
                          <a:spcPct val="108000"/>
                        </a:lnSpc>
                        <a:spcAft>
                          <a:spcPts val="0"/>
                        </a:spcAft>
                        <a:defRPr sz="1800" b="0">
                          <a:solidFill>
                            <a:srgbClr val="E9FAFC"/>
                          </a:solidFill>
                          <a:latin typeface="DejaVu Sans"/>
                        </a:defRPr>
                      </a:pPr>
                      <a:r>
                        <a:t>Credible comparator and uncertainty</a:t>
                      </a:r>
                    </a:p>
                  </a:txBody>
                  <a:tcPr marL="118872" marR="118872" marT="73152" marB="73152" anchor="ctr">
                    <a:solidFill>
                      <a:srgbClr val="10253A"/>
                    </a:solidFill>
                  </a:tcPr>
                </a:tc>
              </a:tr>
            </a:tbl>
          </a:graphicData>
        </a:graphic>
      </p:graphicFrame>
      <p:sp>
        <p:nvSpPr>
          <p:cNvPr id="5" name="TextBox 4"/>
          <p:cNvSpPr txBox="1"/>
          <p:nvPr/>
        </p:nvSpPr>
        <p:spPr>
          <a:xfrm>
            <a:off x="731520" y="5742432"/>
            <a:ext cx="10789920" cy="502920"/>
          </a:xfrm>
          <a:prstGeom prst="rect">
            <a:avLst/>
          </a:prstGeom>
          <a:noFill/>
        </p:spPr>
        <p:txBody>
          <a:bodyPr wrap="square" lIns="0" rIns="0" tIns="22860" bIns="22860">
            <a:spAutoFit/>
          </a:bodyPr>
          <a:lstStyle/>
          <a:p>
            <a:pPr>
              <a:lnSpc>
                <a:spcPct val="108000"/>
              </a:lnSpc>
              <a:spcBef>
                <a:spcPts val="0"/>
              </a:spcBef>
              <a:spcAft>
                <a:spcPts val="400"/>
              </a:spcAft>
              <a:defRPr sz="1750" b="0">
                <a:solidFill>
                  <a:srgbClr val="FEB763"/>
                </a:solidFill>
                <a:latin typeface="DejaVu Sans"/>
              </a:defRPr>
            </a:pPr>
            <a:r>
              <a:t>Agreement in simulation does not identify a field effect.</a:t>
            </a:r>
          </a:p>
        </p:txBody>
      </p:sp>
      <p:sp>
        <p:nvSpPr>
          <p:cNvPr id="6" name="TextBox 5"/>
          <p:cNvSpPr txBox="1"/>
          <p:nvPr/>
        </p:nvSpPr>
        <p:spPr>
          <a:xfrm>
            <a:off x="704088" y="6400800"/>
            <a:ext cx="10287000" cy="283464"/>
          </a:xfrm>
          <a:prstGeom prst="rect">
            <a:avLst/>
          </a:prstGeom>
          <a:noFill/>
        </p:spPr>
        <p:txBody>
          <a:bodyPr wrap="square" lIns="0" rIns="0" tIns="22860" bIns="22860">
            <a:spAutoFit/>
          </a:bodyPr>
          <a:lstStyle/>
          <a:p>
            <a:pPr>
              <a:lnSpc>
                <a:spcPct val="108000"/>
              </a:lnSpc>
              <a:spcBef>
                <a:spcPts val="0"/>
              </a:spcBef>
              <a:spcAft>
                <a:spcPts val="400"/>
              </a:spcAft>
              <a:defRPr sz="950" b="0">
                <a:solidFill>
                  <a:srgbClr val="ABC1CE"/>
                </a:solidFill>
                <a:latin typeface="DejaVu Sans"/>
              </a:defRPr>
            </a:pPr>
            <a:r>
              <a:t>Sources: </a:t>
            </a:r>
            <a:r>
              <a:rPr>
                <a:solidFill>
                  <a:srgbClr val="ABC1CE"/>
                </a:solidFill>
                <a:hlinkClick r:id="rId3"/>
              </a:rPr>
              <a:t>Manager spec</a:t>
            </a:r>
            <a:r>
              <a:t> / </a:t>
            </a:r>
            <a:r>
              <a:rPr>
                <a:solidFill>
                  <a:srgbClr val="ABC1CE"/>
                </a:solidFill>
                <a:hlinkClick r:id="rId4"/>
              </a:rPr>
              <a:t>Park et al. 2023</a:t>
            </a:r>
            <a:r>
              <a:t> / </a:t>
            </a:r>
            <a:r>
              <a:rPr>
                <a:solidFill>
                  <a:srgbClr val="ABC1CE"/>
                </a:solidFill>
                <a:hlinkClick r:id="rId5"/>
              </a:rPr>
              <a:t>HeartSteps</a:t>
            </a:r>
          </a:p>
        </p:txBody>
      </p:sp>
      <p:sp>
        <p:nvSpPr>
          <p:cNvPr id="7" name="TextBox 6"/>
          <p:cNvSpPr txBox="1"/>
          <p:nvPr/>
        </p:nvSpPr>
        <p:spPr>
          <a:xfrm>
            <a:off x="11064240" y="6382512"/>
            <a:ext cx="411480" cy="292608"/>
          </a:xfrm>
          <a:prstGeom prst="rect">
            <a:avLst/>
          </a:prstGeom>
          <a:noFill/>
        </p:spPr>
        <p:txBody>
          <a:bodyPr wrap="square" lIns="0" rIns="0" tIns="22860" bIns="22860">
            <a:spAutoFit/>
          </a:bodyPr>
          <a:lstStyle/>
          <a:p>
            <a:pPr>
              <a:lnSpc>
                <a:spcPct val="108000"/>
              </a:lnSpc>
              <a:spcBef>
                <a:spcPts val="0"/>
              </a:spcBef>
              <a:spcAft>
                <a:spcPts val="400"/>
              </a:spcAft>
              <a:defRPr sz="1100" b="1">
                <a:solidFill>
                  <a:srgbClr val="63E2BD"/>
                </a:solidFill>
                <a:latin typeface="DejaVu Sans"/>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1428"/>
        </a:solidFill>
        <a:effectLst/>
      </p:bgPr>
    </p:bg>
    <p:spTree>
      <p:nvGrpSpPr>
        <p:cNvPr id="1" name=""/>
        <p:cNvGrpSpPr/>
        <p:nvPr/>
      </p:nvGrpSpPr>
      <p:grpSpPr/>
      <p:sp>
        <p:nvSpPr>
          <p:cNvPr id="2" name="TextBox 1"/>
          <p:cNvSpPr txBox="1"/>
          <p:nvPr/>
        </p:nvSpPr>
        <p:spPr>
          <a:xfrm>
            <a:off x="685800" y="576072"/>
            <a:ext cx="10881360" cy="941832"/>
          </a:xfrm>
          <a:prstGeom prst="rect">
            <a:avLst/>
          </a:prstGeom>
          <a:noFill/>
        </p:spPr>
        <p:txBody>
          <a:bodyPr wrap="square" lIns="0" rIns="0" tIns="22860" bIns="22860">
            <a:spAutoFit/>
          </a:bodyPr>
          <a:lstStyle/>
          <a:p>
            <a:pPr>
              <a:lnSpc>
                <a:spcPct val="108000"/>
              </a:lnSpc>
              <a:spcBef>
                <a:spcPts val="0"/>
              </a:spcBef>
              <a:spcAft>
                <a:spcPts val="400"/>
              </a:spcAft>
              <a:defRPr sz="3100" b="1">
                <a:solidFill>
                  <a:srgbClr val="FCFDFE"/>
                </a:solidFill>
                <a:latin typeface="DejaVu Sans"/>
              </a:defRPr>
            </a:pPr>
            <a:r>
              <a:t>A controlled action has separate records</a:t>
            </a:r>
          </a:p>
        </p:txBody>
      </p:sp>
      <p:sp>
        <p:nvSpPr>
          <p:cNvPr id="3" name="TextBox 2"/>
          <p:cNvSpPr txBox="1"/>
          <p:nvPr/>
        </p:nvSpPr>
        <p:spPr>
          <a:xfrm>
            <a:off x="722376" y="1508760"/>
            <a:ext cx="10698480" cy="475488"/>
          </a:xfrm>
          <a:prstGeom prst="rect">
            <a:avLst/>
          </a:prstGeom>
          <a:noFill/>
        </p:spPr>
        <p:txBody>
          <a:bodyPr wrap="square" lIns="0" rIns="0" tIns="22860" bIns="22860">
            <a:spAutoFit/>
          </a:bodyPr>
          <a:lstStyle/>
          <a:p>
            <a:pPr>
              <a:lnSpc>
                <a:spcPct val="108000"/>
              </a:lnSpc>
              <a:spcBef>
                <a:spcPts val="0"/>
              </a:spcBef>
              <a:spcAft>
                <a:spcPts val="400"/>
              </a:spcAft>
              <a:defRPr sz="1600" b="0">
                <a:solidFill>
                  <a:srgbClr val="ABC1CE"/>
                </a:solidFill>
                <a:latin typeface="DejaVu Sans"/>
              </a:defRPr>
            </a:pPr>
            <a:r>
              <a:t>Conceptual contract for the Manager system</a:t>
            </a:r>
          </a:p>
        </p:txBody>
      </p:sp>
      <p:graphicFrame>
        <p:nvGraphicFramePr>
          <p:cNvPr id="4" name="Table 3"/>
          <p:cNvGraphicFramePr>
            <a:graphicFrameLocks noGrp="1"/>
          </p:cNvGraphicFramePr>
          <p:nvPr/>
        </p:nvGraphicFramePr>
        <p:xfrm>
          <a:off x="704088" y="2084831"/>
          <a:ext cx="10835640" cy="3337556"/>
        </p:xfrm>
        <a:graphic>
          <a:graphicData uri="http://schemas.openxmlformats.org/drawingml/2006/table">
            <a:tbl>
              <a:tblPr firstRow="1" bandRow="1">
                <a:tableStyleId>{5C22544A-7EE6-4342-B048-85BDC9FD1C3A}</a:tableStyleId>
              </a:tblPr>
              <a:tblGrid>
                <a:gridCol w="2240280"/>
                <a:gridCol w="4251960"/>
                <a:gridCol w="4343400"/>
              </a:tblGrid>
              <a:tr h="502920">
                <a:tc>
                  <a:txBody>
                    <a:bodyPr/>
                    <a:lstStyle/>
                    <a:p>
                      <a:pPr>
                        <a:lnSpc>
                          <a:spcPct val="108000"/>
                        </a:lnSpc>
                        <a:spcAft>
                          <a:spcPts val="0"/>
                        </a:spcAft>
                        <a:defRPr sz="1700" b="1">
                          <a:solidFill>
                            <a:srgbClr val="63E2BD"/>
                          </a:solidFill>
                          <a:latin typeface="DejaVu Sans"/>
                        </a:defRPr>
                      </a:pPr>
                      <a:r>
                        <a:t>Record</a:t>
                      </a:r>
                    </a:p>
                  </a:txBody>
                  <a:tcPr marL="118872" marR="118872" marT="73152" marB="73152" anchor="ctr">
                    <a:solidFill>
                      <a:srgbClr val="173046"/>
                    </a:solidFill>
                  </a:tcPr>
                </a:tc>
                <a:tc>
                  <a:txBody>
                    <a:bodyPr/>
                    <a:lstStyle/>
                    <a:p>
                      <a:pPr>
                        <a:lnSpc>
                          <a:spcPct val="108000"/>
                        </a:lnSpc>
                        <a:spcAft>
                          <a:spcPts val="0"/>
                        </a:spcAft>
                        <a:defRPr sz="1700" b="1">
                          <a:solidFill>
                            <a:srgbClr val="63E2BD"/>
                          </a:solidFill>
                          <a:latin typeface="DejaVu Sans"/>
                        </a:defRPr>
                      </a:pPr>
                      <a:r>
                        <a:t>What it binds</a:t>
                      </a:r>
                    </a:p>
                  </a:txBody>
                  <a:tcPr marL="118872" marR="118872" marT="73152" marB="73152" anchor="ctr">
                    <a:solidFill>
                      <a:srgbClr val="173046"/>
                    </a:solidFill>
                  </a:tcPr>
                </a:tc>
                <a:tc>
                  <a:txBody>
                    <a:bodyPr/>
                    <a:lstStyle/>
                    <a:p>
                      <a:pPr>
                        <a:lnSpc>
                          <a:spcPct val="108000"/>
                        </a:lnSpc>
                        <a:spcAft>
                          <a:spcPts val="0"/>
                        </a:spcAft>
                        <a:defRPr sz="1700" b="1">
                          <a:solidFill>
                            <a:srgbClr val="63E2BD"/>
                          </a:solidFill>
                          <a:latin typeface="DejaVu Sans"/>
                        </a:defRPr>
                      </a:pPr>
                      <a:r>
                        <a:t>What it cannot establish alone</a:t>
                      </a:r>
                    </a:p>
                  </a:txBody>
                  <a:tcPr marL="118872" marR="118872" marT="73152" marB="73152" anchor="ctr">
                    <a:solidFill>
                      <a:srgbClr val="173046"/>
                    </a:solidFill>
                  </a:tcPr>
                </a:tc>
              </a:tr>
              <a:tr h="708659">
                <a:tc>
                  <a:txBody>
                    <a:bodyPr/>
                    <a:lstStyle/>
                    <a:p>
                      <a:pPr>
                        <a:lnSpc>
                          <a:spcPct val="108000"/>
                        </a:lnSpc>
                        <a:spcAft>
                          <a:spcPts val="0"/>
                        </a:spcAft>
                        <a:defRPr sz="1800" b="0">
                          <a:solidFill>
                            <a:srgbClr val="E9FAFC"/>
                          </a:solidFill>
                          <a:latin typeface="DejaVu Sans"/>
                        </a:defRPr>
                      </a:pPr>
                      <a:r>
                        <a:t>Authority</a:t>
                      </a:r>
                    </a:p>
                  </a:txBody>
                  <a:tcPr marL="118872" marR="118872" marT="73152" marB="73152" anchor="ctr">
                    <a:solidFill>
                      <a:srgbClr val="10253A"/>
                    </a:solidFill>
                  </a:tcPr>
                </a:tc>
                <a:tc>
                  <a:txBody>
                    <a:bodyPr/>
                    <a:lstStyle/>
                    <a:p>
                      <a:pPr>
                        <a:lnSpc>
                          <a:spcPct val="108000"/>
                        </a:lnSpc>
                        <a:spcAft>
                          <a:spcPts val="0"/>
                        </a:spcAft>
                        <a:defRPr sz="1800" b="0">
                          <a:solidFill>
                            <a:srgbClr val="E9FAFC"/>
                          </a:solidFill>
                          <a:latin typeface="DejaVu Sans"/>
                        </a:defRPr>
                      </a:pPr>
                      <a:r>
                        <a:t>Purpose, target, scope and expiry</a:t>
                      </a:r>
                    </a:p>
                  </a:txBody>
                  <a:tcPr marL="118872" marR="118872" marT="73152" marB="73152" anchor="ctr">
                    <a:solidFill>
                      <a:srgbClr val="10253A"/>
                    </a:solidFill>
                  </a:tcPr>
                </a:tc>
                <a:tc>
                  <a:txBody>
                    <a:bodyPr/>
                    <a:lstStyle/>
                    <a:p>
                      <a:pPr>
                        <a:lnSpc>
                          <a:spcPct val="108000"/>
                        </a:lnSpc>
                        <a:spcAft>
                          <a:spcPts val="0"/>
                        </a:spcAft>
                        <a:defRPr sz="1800" b="0">
                          <a:solidFill>
                            <a:srgbClr val="E9FAFC"/>
                          </a:solidFill>
                          <a:latin typeface="DejaVu Sans"/>
                        </a:defRPr>
                      </a:pPr>
                      <a:r>
                        <a:t>Benefit</a:t>
                      </a:r>
                    </a:p>
                  </a:txBody>
                  <a:tcPr marL="118872" marR="118872" marT="73152" marB="73152" anchor="ctr">
                    <a:solidFill>
                      <a:srgbClr val="10253A"/>
                    </a:solidFill>
                  </a:tcPr>
                </a:tc>
              </a:tr>
              <a:tr h="708659">
                <a:tc>
                  <a:txBody>
                    <a:bodyPr/>
                    <a:lstStyle/>
                    <a:p>
                      <a:pPr>
                        <a:lnSpc>
                          <a:spcPct val="108000"/>
                        </a:lnSpc>
                        <a:spcAft>
                          <a:spcPts val="0"/>
                        </a:spcAft>
                        <a:defRPr sz="1800" b="0">
                          <a:solidFill>
                            <a:srgbClr val="E9FAFC"/>
                          </a:solidFill>
                          <a:latin typeface="DejaVu Sans"/>
                        </a:defRPr>
                      </a:pPr>
                      <a:r>
                        <a:t>Execution</a:t>
                      </a:r>
                    </a:p>
                  </a:txBody>
                  <a:tcPr marL="118872" marR="118872" marT="73152" marB="73152" anchor="ctr">
                    <a:solidFill>
                      <a:srgbClr val="081428"/>
                    </a:solidFill>
                  </a:tcPr>
                </a:tc>
                <a:tc>
                  <a:txBody>
                    <a:bodyPr/>
                    <a:lstStyle/>
                    <a:p>
                      <a:pPr>
                        <a:lnSpc>
                          <a:spcPct val="108000"/>
                        </a:lnSpc>
                        <a:spcAft>
                          <a:spcPts val="0"/>
                        </a:spcAft>
                        <a:defRPr sz="1800" b="0">
                          <a:solidFill>
                            <a:srgbClr val="E9FAFC"/>
                          </a:solidFill>
                          <a:latin typeface="DejaVu Sans"/>
                        </a:defRPr>
                      </a:pPr>
                      <a:r>
                        <a:t>Actual authorized operation</a:t>
                      </a:r>
                    </a:p>
                  </a:txBody>
                  <a:tcPr marL="118872" marR="118872" marT="73152" marB="73152" anchor="ctr">
                    <a:solidFill>
                      <a:srgbClr val="081428"/>
                    </a:solidFill>
                  </a:tcPr>
                </a:tc>
                <a:tc>
                  <a:txBody>
                    <a:bodyPr/>
                    <a:lstStyle/>
                    <a:p>
                      <a:pPr>
                        <a:lnSpc>
                          <a:spcPct val="108000"/>
                        </a:lnSpc>
                        <a:spcAft>
                          <a:spcPts val="0"/>
                        </a:spcAft>
                        <a:defRPr sz="1800" b="0">
                          <a:solidFill>
                            <a:srgbClr val="E9FAFC"/>
                          </a:solidFill>
                          <a:latin typeface="DejaVu Sans"/>
                        </a:defRPr>
                      </a:pPr>
                      <a:r>
                        <a:t>Independent world state</a:t>
                      </a:r>
                    </a:p>
                  </a:txBody>
                  <a:tcPr marL="118872" marR="118872" marT="73152" marB="73152" anchor="ctr">
                    <a:solidFill>
                      <a:srgbClr val="081428"/>
                    </a:solidFill>
                  </a:tcPr>
                </a:tc>
              </a:tr>
              <a:tr h="708659">
                <a:tc>
                  <a:txBody>
                    <a:bodyPr/>
                    <a:lstStyle/>
                    <a:p>
                      <a:pPr>
                        <a:lnSpc>
                          <a:spcPct val="108000"/>
                        </a:lnSpc>
                        <a:spcAft>
                          <a:spcPts val="0"/>
                        </a:spcAft>
                        <a:defRPr sz="1800" b="0">
                          <a:solidFill>
                            <a:srgbClr val="E9FAFC"/>
                          </a:solidFill>
                          <a:latin typeface="DejaVu Sans"/>
                        </a:defRPr>
                      </a:pPr>
                      <a:r>
                        <a:t>Readback</a:t>
                      </a:r>
                    </a:p>
                  </a:txBody>
                  <a:tcPr marL="118872" marR="118872" marT="73152" marB="73152" anchor="ctr">
                    <a:solidFill>
                      <a:srgbClr val="10253A"/>
                    </a:solidFill>
                  </a:tcPr>
                </a:tc>
                <a:tc>
                  <a:txBody>
                    <a:bodyPr/>
                    <a:lstStyle/>
                    <a:p>
                      <a:pPr>
                        <a:lnSpc>
                          <a:spcPct val="108000"/>
                        </a:lnSpc>
                        <a:spcAft>
                          <a:spcPts val="0"/>
                        </a:spcAft>
                        <a:defRPr sz="1800" b="0">
                          <a:solidFill>
                            <a:srgbClr val="E9FAFC"/>
                          </a:solidFill>
                          <a:latin typeface="DejaVu Sans"/>
                        </a:defRPr>
                      </a:pPr>
                      <a:r>
                        <a:t>Observed state and source</a:t>
                      </a:r>
                    </a:p>
                  </a:txBody>
                  <a:tcPr marL="118872" marR="118872" marT="73152" marB="73152" anchor="ctr">
                    <a:solidFill>
                      <a:srgbClr val="10253A"/>
                    </a:solidFill>
                  </a:tcPr>
                </a:tc>
                <a:tc>
                  <a:txBody>
                    <a:bodyPr/>
                    <a:lstStyle/>
                    <a:p>
                      <a:pPr>
                        <a:lnSpc>
                          <a:spcPct val="108000"/>
                        </a:lnSpc>
                        <a:spcAft>
                          <a:spcPts val="0"/>
                        </a:spcAft>
                        <a:defRPr sz="1800" b="0">
                          <a:solidFill>
                            <a:srgbClr val="E9FAFC"/>
                          </a:solidFill>
                          <a:latin typeface="DejaVu Sans"/>
                        </a:defRPr>
                      </a:pPr>
                      <a:r>
                        <a:t>Human outcome</a:t>
                      </a:r>
                    </a:p>
                  </a:txBody>
                  <a:tcPr marL="118872" marR="118872" marT="73152" marB="73152" anchor="ctr">
                    <a:solidFill>
                      <a:srgbClr val="10253A"/>
                    </a:solidFill>
                  </a:tcPr>
                </a:tc>
              </a:tr>
              <a:tr h="708659">
                <a:tc>
                  <a:txBody>
                    <a:bodyPr/>
                    <a:lstStyle/>
                    <a:p>
                      <a:pPr>
                        <a:lnSpc>
                          <a:spcPct val="108000"/>
                        </a:lnSpc>
                        <a:spcAft>
                          <a:spcPts val="0"/>
                        </a:spcAft>
                        <a:defRPr sz="1800" b="0">
                          <a:solidFill>
                            <a:srgbClr val="E9FAFC"/>
                          </a:solidFill>
                          <a:latin typeface="DejaVu Sans"/>
                        </a:defRPr>
                      </a:pPr>
                      <a:r>
                        <a:t>Outcome</a:t>
                      </a:r>
                    </a:p>
                  </a:txBody>
                  <a:tcPr marL="118872" marR="118872" marT="73152" marB="73152" anchor="ctr">
                    <a:solidFill>
                      <a:srgbClr val="081428"/>
                    </a:solidFill>
                  </a:tcPr>
                </a:tc>
                <a:tc>
                  <a:txBody>
                    <a:bodyPr/>
                    <a:lstStyle/>
                    <a:p>
                      <a:pPr>
                        <a:lnSpc>
                          <a:spcPct val="108000"/>
                        </a:lnSpc>
                        <a:spcAft>
                          <a:spcPts val="0"/>
                        </a:spcAft>
                        <a:defRPr sz="1800" b="0">
                          <a:solidFill>
                            <a:srgbClr val="E9FAFC"/>
                          </a:solidFill>
                          <a:latin typeface="DejaVu Sans"/>
                        </a:defRPr>
                      </a:pPr>
                      <a:r>
                        <a:t>Original units and provenance</a:t>
                      </a:r>
                    </a:p>
                  </a:txBody>
                  <a:tcPr marL="118872" marR="118872" marT="73152" marB="73152" anchor="ctr">
                    <a:solidFill>
                      <a:srgbClr val="081428"/>
                    </a:solidFill>
                  </a:tcPr>
                </a:tc>
                <a:tc>
                  <a:txBody>
                    <a:bodyPr/>
                    <a:lstStyle/>
                    <a:p>
                      <a:pPr>
                        <a:lnSpc>
                          <a:spcPct val="108000"/>
                        </a:lnSpc>
                        <a:spcAft>
                          <a:spcPts val="0"/>
                        </a:spcAft>
                        <a:defRPr sz="1800" b="0">
                          <a:solidFill>
                            <a:srgbClr val="E9FAFC"/>
                          </a:solidFill>
                          <a:latin typeface="DejaVu Sans"/>
                        </a:defRPr>
                      </a:pPr>
                      <a:r>
                        <a:t>Causality without a comparator</a:t>
                      </a:r>
                    </a:p>
                  </a:txBody>
                  <a:tcPr marL="118872" marR="118872" marT="73152" marB="73152" anchor="ctr">
                    <a:solidFill>
                      <a:srgbClr val="081428"/>
                    </a:solidFill>
                  </a:tcPr>
                </a:tc>
              </a:tr>
            </a:tbl>
          </a:graphicData>
        </a:graphic>
      </p:graphicFrame>
      <p:sp>
        <p:nvSpPr>
          <p:cNvPr id="5" name="TextBox 4"/>
          <p:cNvSpPr txBox="1"/>
          <p:nvPr/>
        </p:nvSpPr>
        <p:spPr>
          <a:xfrm>
            <a:off x="731520" y="5742432"/>
            <a:ext cx="10789920" cy="502920"/>
          </a:xfrm>
          <a:prstGeom prst="rect">
            <a:avLst/>
          </a:prstGeom>
          <a:noFill/>
        </p:spPr>
        <p:txBody>
          <a:bodyPr wrap="square" lIns="0" rIns="0" tIns="22860" bIns="22860">
            <a:spAutoFit/>
          </a:bodyPr>
          <a:lstStyle/>
          <a:p>
            <a:pPr>
              <a:lnSpc>
                <a:spcPct val="108000"/>
              </a:lnSpc>
              <a:spcBef>
                <a:spcPts val="0"/>
              </a:spcBef>
              <a:spcAft>
                <a:spcPts val="400"/>
              </a:spcAft>
              <a:defRPr sz="1750" b="0">
                <a:solidFill>
                  <a:srgbClr val="FEB763"/>
                </a:solidFill>
                <a:latin typeface="DejaVu Sans"/>
              </a:defRPr>
            </a:pPr>
            <a:r>
              <a:t>A simulation signature remains a simulation artifact.</a:t>
            </a:r>
          </a:p>
        </p:txBody>
      </p:sp>
      <p:sp>
        <p:nvSpPr>
          <p:cNvPr id="6" name="TextBox 5"/>
          <p:cNvSpPr txBox="1"/>
          <p:nvPr/>
        </p:nvSpPr>
        <p:spPr>
          <a:xfrm>
            <a:off x="704088" y="6400800"/>
            <a:ext cx="10287000" cy="283464"/>
          </a:xfrm>
          <a:prstGeom prst="rect">
            <a:avLst/>
          </a:prstGeom>
          <a:noFill/>
        </p:spPr>
        <p:txBody>
          <a:bodyPr wrap="square" lIns="0" rIns="0" tIns="22860" bIns="22860">
            <a:spAutoFit/>
          </a:bodyPr>
          <a:lstStyle/>
          <a:p>
            <a:pPr>
              <a:lnSpc>
                <a:spcPct val="108000"/>
              </a:lnSpc>
              <a:spcBef>
                <a:spcPts val="0"/>
              </a:spcBef>
              <a:spcAft>
                <a:spcPts val="400"/>
              </a:spcAft>
              <a:defRPr sz="950" b="0">
                <a:solidFill>
                  <a:srgbClr val="ABC1CE"/>
                </a:solidFill>
                <a:latin typeface="DejaVu Sans"/>
              </a:defRPr>
            </a:pPr>
            <a:r>
              <a:t>Sources: </a:t>
            </a:r>
            <a:r>
              <a:rPr>
                <a:solidFill>
                  <a:srgbClr val="ABC1CE"/>
                </a:solidFill>
                <a:hlinkClick r:id="rId3"/>
              </a:rPr>
              <a:t>Manager spec</a:t>
            </a:r>
          </a:p>
        </p:txBody>
      </p:sp>
      <p:sp>
        <p:nvSpPr>
          <p:cNvPr id="7" name="TextBox 6"/>
          <p:cNvSpPr txBox="1"/>
          <p:nvPr/>
        </p:nvSpPr>
        <p:spPr>
          <a:xfrm>
            <a:off x="11064240" y="6382512"/>
            <a:ext cx="411480" cy="292608"/>
          </a:xfrm>
          <a:prstGeom prst="rect">
            <a:avLst/>
          </a:prstGeom>
          <a:noFill/>
        </p:spPr>
        <p:txBody>
          <a:bodyPr wrap="square" lIns="0" rIns="0" tIns="22860" bIns="22860">
            <a:spAutoFit/>
          </a:bodyPr>
          <a:lstStyle/>
          <a:p>
            <a:pPr>
              <a:lnSpc>
                <a:spcPct val="108000"/>
              </a:lnSpc>
              <a:spcBef>
                <a:spcPts val="0"/>
              </a:spcBef>
              <a:spcAft>
                <a:spcPts val="400"/>
              </a:spcAft>
              <a:defRPr sz="1100" b="1">
                <a:solidFill>
                  <a:srgbClr val="63E2BD"/>
                </a:solidFill>
                <a:latin typeface="DejaVu Sans"/>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1428"/>
        </a:solidFill>
        <a:effectLst/>
      </p:bgPr>
    </p:bg>
    <p:spTree>
      <p:nvGrpSpPr>
        <p:cNvPr id="1" name=""/>
        <p:cNvGrpSpPr/>
        <p:nvPr/>
      </p:nvGrpSpPr>
      <p:grpSpPr/>
      <p:sp>
        <p:nvSpPr>
          <p:cNvPr id="2" name="TextBox 1"/>
          <p:cNvSpPr txBox="1"/>
          <p:nvPr/>
        </p:nvSpPr>
        <p:spPr>
          <a:xfrm>
            <a:off x="685800" y="576072"/>
            <a:ext cx="10881360" cy="941832"/>
          </a:xfrm>
          <a:prstGeom prst="rect">
            <a:avLst/>
          </a:prstGeom>
          <a:noFill/>
        </p:spPr>
        <p:txBody>
          <a:bodyPr wrap="square" lIns="0" rIns="0" tIns="22860" bIns="22860">
            <a:spAutoFit/>
          </a:bodyPr>
          <a:lstStyle/>
          <a:p>
            <a:pPr>
              <a:lnSpc>
                <a:spcPct val="108000"/>
              </a:lnSpc>
              <a:spcBef>
                <a:spcPts val="0"/>
              </a:spcBef>
              <a:spcAft>
                <a:spcPts val="400"/>
              </a:spcAft>
              <a:defRPr sz="3100" b="1">
                <a:solidFill>
                  <a:srgbClr val="FCFDFE"/>
                </a:solidFill>
                <a:latin typeface="DejaVu Sans"/>
              </a:defRPr>
            </a:pPr>
            <a:r>
              <a:t>The public artifact is verifiable</a:t>
            </a:r>
          </a:p>
        </p:txBody>
      </p:sp>
      <p:sp>
        <p:nvSpPr>
          <p:cNvPr id="3" name="TextBox 2"/>
          <p:cNvSpPr txBox="1"/>
          <p:nvPr/>
        </p:nvSpPr>
        <p:spPr>
          <a:xfrm>
            <a:off x="722376" y="1508760"/>
            <a:ext cx="10698480" cy="475488"/>
          </a:xfrm>
          <a:prstGeom prst="rect">
            <a:avLst/>
          </a:prstGeom>
          <a:noFill/>
        </p:spPr>
        <p:txBody>
          <a:bodyPr wrap="square" lIns="0" rIns="0" tIns="22860" bIns="22860">
            <a:spAutoFit/>
          </a:bodyPr>
          <a:lstStyle/>
          <a:p>
            <a:pPr>
              <a:lnSpc>
                <a:spcPct val="108000"/>
              </a:lnSpc>
              <a:spcBef>
                <a:spcPts val="0"/>
              </a:spcBef>
              <a:spcAft>
                <a:spcPts val="400"/>
              </a:spcAft>
              <a:defRPr sz="1600" b="0">
                <a:solidFill>
                  <a:srgbClr val="ABC1CE"/>
                </a:solidFill>
                <a:latin typeface="DejaVu Sans"/>
              </a:defRPr>
            </a:pPr>
            <a:r>
              <a:t>Recorded verification: 21 October 2026, 14:36 UTC</a:t>
            </a:r>
          </a:p>
        </p:txBody>
      </p:sp>
      <p:sp>
        <p:nvSpPr>
          <p:cNvPr id="4" name="TextBox 3"/>
          <p:cNvSpPr txBox="1"/>
          <p:nvPr/>
        </p:nvSpPr>
        <p:spPr>
          <a:xfrm>
            <a:off x="731520" y="2240280"/>
            <a:ext cx="4754880" cy="1143000"/>
          </a:xfrm>
          <a:prstGeom prst="rect">
            <a:avLst/>
          </a:prstGeom>
          <a:noFill/>
        </p:spPr>
        <p:txBody>
          <a:bodyPr wrap="square" lIns="0" rIns="0" tIns="22860" bIns="22860">
            <a:spAutoFit/>
          </a:bodyPr>
          <a:lstStyle/>
          <a:p>
            <a:pPr>
              <a:lnSpc>
                <a:spcPct val="108000"/>
              </a:lnSpc>
              <a:spcBef>
                <a:spcPts val="0"/>
              </a:spcBef>
              <a:spcAft>
                <a:spcPts val="400"/>
              </a:spcAft>
              <a:defRPr sz="7400" b="1">
                <a:solidFill>
                  <a:srgbClr val="63E2BD"/>
                </a:solidFill>
                <a:latin typeface="DejaVu Sans"/>
              </a:defRPr>
            </a:pPr>
            <a:r>
              <a:t>6</a:t>
            </a:r>
          </a:p>
        </p:txBody>
      </p:sp>
      <p:sp>
        <p:nvSpPr>
          <p:cNvPr id="5" name="TextBox 4"/>
          <p:cNvSpPr txBox="1"/>
          <p:nvPr/>
        </p:nvSpPr>
        <p:spPr>
          <a:xfrm>
            <a:off x="731520" y="3685032"/>
            <a:ext cx="4800600" cy="758952"/>
          </a:xfrm>
          <a:prstGeom prst="rect">
            <a:avLst/>
          </a:prstGeom>
          <a:noFill/>
        </p:spPr>
        <p:txBody>
          <a:bodyPr wrap="square" lIns="0" rIns="0" tIns="22860" bIns="22860">
            <a:spAutoFit/>
          </a:bodyPr>
          <a:lstStyle/>
          <a:p>
            <a:pPr>
              <a:lnSpc>
                <a:spcPct val="108000"/>
              </a:lnSpc>
              <a:spcBef>
                <a:spcPts val="0"/>
              </a:spcBef>
              <a:spcAft>
                <a:spcPts val="400"/>
              </a:spcAft>
              <a:defRPr sz="2300" b="1">
                <a:solidFill>
                  <a:srgbClr val="FCFDFE"/>
                </a:solidFill>
                <a:latin typeface="DejaVu Sans"/>
              </a:defRPr>
            </a:pPr>
            <a:r>
              <a:t>HTML pages matched</a:t>
            </a:r>
          </a:p>
        </p:txBody>
      </p:sp>
      <p:sp>
        <p:nvSpPr>
          <p:cNvPr id="6" name="TextBox 5"/>
          <p:cNvSpPr txBox="1"/>
          <p:nvPr/>
        </p:nvSpPr>
        <p:spPr>
          <a:xfrm>
            <a:off x="731520" y="4690872"/>
            <a:ext cx="4800600" cy="594360"/>
          </a:xfrm>
          <a:prstGeom prst="rect">
            <a:avLst/>
          </a:prstGeom>
          <a:noFill/>
        </p:spPr>
        <p:txBody>
          <a:bodyPr wrap="square" lIns="0" rIns="0" tIns="22860" bIns="22860">
            <a:spAutoFit/>
          </a:bodyPr>
          <a:lstStyle/>
          <a:p>
            <a:pPr>
              <a:lnSpc>
                <a:spcPct val="108000"/>
              </a:lnSpc>
              <a:spcBef>
                <a:spcPts val="0"/>
              </a:spcBef>
              <a:spcAft>
                <a:spcPts val="400"/>
              </a:spcAft>
              <a:defRPr sz="1600" b="0">
                <a:solidFill>
                  <a:srgbClr val="ABC1CE"/>
                </a:solidFill>
                <a:latin typeface="DejaVu Sans"/>
              </a:defRPr>
            </a:pPr>
            <a:r>
              <a:t>One public product release</a:t>
            </a:r>
          </a:p>
        </p:txBody>
      </p:sp>
      <p:sp>
        <p:nvSpPr>
          <p:cNvPr id="7" name="TextBox 6"/>
          <p:cNvSpPr txBox="1"/>
          <p:nvPr/>
        </p:nvSpPr>
        <p:spPr>
          <a:xfrm>
            <a:off x="6400800" y="2240280"/>
            <a:ext cx="4754880" cy="1143000"/>
          </a:xfrm>
          <a:prstGeom prst="rect">
            <a:avLst/>
          </a:prstGeom>
          <a:noFill/>
        </p:spPr>
        <p:txBody>
          <a:bodyPr wrap="square" lIns="0" rIns="0" tIns="22860" bIns="22860">
            <a:spAutoFit/>
          </a:bodyPr>
          <a:lstStyle/>
          <a:p>
            <a:pPr>
              <a:lnSpc>
                <a:spcPct val="108000"/>
              </a:lnSpc>
              <a:spcBef>
                <a:spcPts val="0"/>
              </a:spcBef>
              <a:spcAft>
                <a:spcPts val="400"/>
              </a:spcAft>
              <a:defRPr sz="7400" b="1">
                <a:solidFill>
                  <a:srgbClr val="63E2BD"/>
                </a:solidFill>
                <a:latin typeface="DejaVu Sans"/>
              </a:defRPr>
            </a:pPr>
            <a:r>
              <a:t>16</a:t>
            </a:r>
          </a:p>
        </p:txBody>
      </p:sp>
      <p:sp>
        <p:nvSpPr>
          <p:cNvPr id="8" name="TextBox 7"/>
          <p:cNvSpPr txBox="1"/>
          <p:nvPr/>
        </p:nvSpPr>
        <p:spPr>
          <a:xfrm>
            <a:off x="6400800" y="3685032"/>
            <a:ext cx="4800600" cy="758952"/>
          </a:xfrm>
          <a:prstGeom prst="rect">
            <a:avLst/>
          </a:prstGeom>
          <a:noFill/>
        </p:spPr>
        <p:txBody>
          <a:bodyPr wrap="square" lIns="0" rIns="0" tIns="22860" bIns="22860">
            <a:spAutoFit/>
          </a:bodyPr>
          <a:lstStyle/>
          <a:p>
            <a:pPr>
              <a:lnSpc>
                <a:spcPct val="108000"/>
              </a:lnSpc>
              <a:spcBef>
                <a:spcPts val="0"/>
              </a:spcBef>
              <a:spcAft>
                <a:spcPts val="400"/>
              </a:spcAft>
              <a:defRPr sz="2300" b="1">
                <a:solidFill>
                  <a:srgbClr val="FCFDFE"/>
                </a:solidFill>
                <a:latin typeface="DejaVu Sans"/>
              </a:defRPr>
            </a:pPr>
            <a:r>
              <a:t>Public browser checks passed</a:t>
            </a:r>
          </a:p>
        </p:txBody>
      </p:sp>
      <p:sp>
        <p:nvSpPr>
          <p:cNvPr id="9" name="TextBox 8"/>
          <p:cNvSpPr txBox="1"/>
          <p:nvPr/>
        </p:nvSpPr>
        <p:spPr>
          <a:xfrm>
            <a:off x="6400800" y="4690872"/>
            <a:ext cx="4800600" cy="594360"/>
          </a:xfrm>
          <a:prstGeom prst="rect">
            <a:avLst/>
          </a:prstGeom>
          <a:noFill/>
        </p:spPr>
        <p:txBody>
          <a:bodyPr wrap="square" lIns="0" rIns="0" tIns="22860" bIns="22860">
            <a:spAutoFit/>
          </a:bodyPr>
          <a:lstStyle/>
          <a:p>
            <a:pPr>
              <a:lnSpc>
                <a:spcPct val="108000"/>
              </a:lnSpc>
              <a:spcBef>
                <a:spcPts val="0"/>
              </a:spcBef>
              <a:spcAft>
                <a:spcPts val="400"/>
              </a:spcAft>
              <a:defRPr sz="1600" b="0">
                <a:solidFill>
                  <a:srgbClr val="ABC1CE"/>
                </a:solidFill>
                <a:latin typeface="DejaVu Sans"/>
              </a:defRPr>
            </a:pPr>
            <a:r>
              <a:t>Software scenarios, not participants</a:t>
            </a:r>
          </a:p>
        </p:txBody>
      </p:sp>
      <p:sp>
        <p:nvSpPr>
          <p:cNvPr id="10" name="TextBox 9"/>
          <p:cNvSpPr txBox="1"/>
          <p:nvPr/>
        </p:nvSpPr>
        <p:spPr>
          <a:xfrm>
            <a:off x="731520" y="5742432"/>
            <a:ext cx="10789920" cy="502920"/>
          </a:xfrm>
          <a:prstGeom prst="rect">
            <a:avLst/>
          </a:prstGeom>
          <a:noFill/>
        </p:spPr>
        <p:txBody>
          <a:bodyPr wrap="square" lIns="0" rIns="0" tIns="22860" bIns="22860">
            <a:spAutoFit/>
          </a:bodyPr>
          <a:lstStyle/>
          <a:p>
            <a:pPr>
              <a:lnSpc>
                <a:spcPct val="108000"/>
              </a:lnSpc>
              <a:spcBef>
                <a:spcPts val="0"/>
              </a:spcBef>
              <a:spcAft>
                <a:spcPts val="400"/>
              </a:spcAft>
              <a:defRPr sz="1750" b="0">
                <a:solidFill>
                  <a:srgbClr val="FEB763"/>
                </a:solidFill>
                <a:latin typeface="DejaVu Sans"/>
              </a:defRPr>
            </a:pPr>
            <a:r>
              <a:t>P2 artifact only. Human outcomes remain NOT_MEASURED.</a:t>
            </a:r>
          </a:p>
        </p:txBody>
      </p:sp>
      <p:sp>
        <p:nvSpPr>
          <p:cNvPr id="11" name="TextBox 10"/>
          <p:cNvSpPr txBox="1"/>
          <p:nvPr/>
        </p:nvSpPr>
        <p:spPr>
          <a:xfrm>
            <a:off x="704088" y="6400800"/>
            <a:ext cx="10287000" cy="283464"/>
          </a:xfrm>
          <a:prstGeom prst="rect">
            <a:avLst/>
          </a:prstGeom>
          <a:noFill/>
        </p:spPr>
        <p:txBody>
          <a:bodyPr wrap="square" lIns="0" rIns="0" tIns="22860" bIns="22860">
            <a:spAutoFit/>
          </a:bodyPr>
          <a:lstStyle/>
          <a:p>
            <a:pPr>
              <a:lnSpc>
                <a:spcPct val="108000"/>
              </a:lnSpc>
              <a:spcBef>
                <a:spcPts val="0"/>
              </a:spcBef>
              <a:spcAft>
                <a:spcPts val="400"/>
              </a:spcAft>
              <a:defRPr sz="950" b="0">
                <a:solidFill>
                  <a:srgbClr val="ABC1CE"/>
                </a:solidFill>
                <a:latin typeface="DejaVu Sans"/>
              </a:defRPr>
            </a:pPr>
            <a:r>
              <a:t>Sources: </a:t>
            </a:r>
            <a:r>
              <a:rPr>
                <a:solidFill>
                  <a:srgbClr val="ABC1CE"/>
                </a:solidFill>
                <a:hlinkClick r:id="rId3"/>
              </a:rPr>
              <a:t>Release record</a:t>
            </a:r>
            <a:r>
              <a:t> / </a:t>
            </a:r>
            <a:r>
              <a:rPr>
                <a:solidFill>
                  <a:srgbClr val="ABC1CE"/>
                </a:solidFill>
                <a:hlinkClick r:id="rId4"/>
              </a:rPr>
              <a:t>Readback CI</a:t>
            </a:r>
            <a:r>
              <a:t> / </a:t>
            </a:r>
            <a:r>
              <a:rPr>
                <a:solidFill>
                  <a:srgbClr val="ABC1CE"/>
                </a:solidFill>
                <a:hlinkClick r:id="rId5"/>
              </a:rPr>
              <a:t>Pages run</a:t>
            </a:r>
          </a:p>
        </p:txBody>
      </p:sp>
      <p:sp>
        <p:nvSpPr>
          <p:cNvPr id="12" name="TextBox 11"/>
          <p:cNvSpPr txBox="1"/>
          <p:nvPr/>
        </p:nvSpPr>
        <p:spPr>
          <a:xfrm>
            <a:off x="11064240" y="6382512"/>
            <a:ext cx="411480" cy="292608"/>
          </a:xfrm>
          <a:prstGeom prst="rect">
            <a:avLst/>
          </a:prstGeom>
          <a:noFill/>
        </p:spPr>
        <p:txBody>
          <a:bodyPr wrap="square" lIns="0" rIns="0" tIns="22860" bIns="22860">
            <a:spAutoFit/>
          </a:bodyPr>
          <a:lstStyle/>
          <a:p>
            <a:pPr>
              <a:lnSpc>
                <a:spcPct val="108000"/>
              </a:lnSpc>
              <a:spcBef>
                <a:spcPts val="0"/>
              </a:spcBef>
              <a:spcAft>
                <a:spcPts val="400"/>
              </a:spcAft>
              <a:defRPr sz="1100" b="1">
                <a:solidFill>
                  <a:srgbClr val="63E2BD"/>
                </a:solidFill>
                <a:latin typeface="DejaVu Sans"/>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1428"/>
        </a:solidFill>
        <a:effectLst/>
      </p:bgPr>
    </p:bg>
    <p:spTree>
      <p:nvGrpSpPr>
        <p:cNvPr id="1" name=""/>
        <p:cNvGrpSpPr/>
        <p:nvPr/>
      </p:nvGrpSpPr>
      <p:grpSpPr/>
      <p:sp>
        <p:nvSpPr>
          <p:cNvPr id="2" name="TextBox 1"/>
          <p:cNvSpPr txBox="1"/>
          <p:nvPr/>
        </p:nvSpPr>
        <p:spPr>
          <a:xfrm>
            <a:off x="685800" y="576072"/>
            <a:ext cx="10881360" cy="941832"/>
          </a:xfrm>
          <a:prstGeom prst="rect">
            <a:avLst/>
          </a:prstGeom>
          <a:noFill/>
        </p:spPr>
        <p:txBody>
          <a:bodyPr wrap="square" lIns="0" rIns="0" tIns="22860" bIns="22860">
            <a:spAutoFit/>
          </a:bodyPr>
          <a:lstStyle/>
          <a:p>
            <a:pPr>
              <a:lnSpc>
                <a:spcPct val="108000"/>
              </a:lnSpc>
              <a:spcBef>
                <a:spcPts val="0"/>
              </a:spcBef>
              <a:spcAft>
                <a:spcPts val="400"/>
              </a:spcAft>
              <a:defRPr sz="3100" b="1">
                <a:solidFill>
                  <a:srgbClr val="FCFDFE"/>
                </a:solidFill>
                <a:latin typeface="DejaVu Sans"/>
              </a:defRPr>
            </a:pPr>
            <a:r>
              <a:t>Behavioral research offers complementary tests</a:t>
            </a:r>
          </a:p>
        </p:txBody>
      </p:sp>
      <p:sp>
        <p:nvSpPr>
          <p:cNvPr id="3" name="TextBox 2"/>
          <p:cNvSpPr txBox="1"/>
          <p:nvPr/>
        </p:nvSpPr>
        <p:spPr>
          <a:xfrm>
            <a:off x="722376" y="1508760"/>
            <a:ext cx="10698480" cy="475488"/>
          </a:xfrm>
          <a:prstGeom prst="rect">
            <a:avLst/>
          </a:prstGeom>
          <a:noFill/>
        </p:spPr>
        <p:txBody>
          <a:bodyPr wrap="square" lIns="0" rIns="0" tIns="22860" bIns="22860">
            <a:spAutoFit/>
          </a:bodyPr>
          <a:lstStyle/>
          <a:p>
            <a:pPr>
              <a:lnSpc>
                <a:spcPct val="108000"/>
              </a:lnSpc>
              <a:spcBef>
                <a:spcPts val="0"/>
              </a:spcBef>
              <a:spcAft>
                <a:spcPts val="400"/>
              </a:spcAft>
              <a:defRPr sz="1600" b="0">
                <a:solidFill>
                  <a:srgbClr val="ABC1CE"/>
                </a:solidFill>
                <a:latin typeface="DejaVu Sans"/>
              </a:defRPr>
            </a:pPr>
            <a:r>
              <a:t>The research map links original work to open questions</a:t>
            </a:r>
          </a:p>
        </p:txBody>
      </p:sp>
      <p:graphicFrame>
        <p:nvGraphicFramePr>
          <p:cNvPr id="4" name="Table 3"/>
          <p:cNvGraphicFramePr>
            <a:graphicFrameLocks noGrp="1"/>
          </p:cNvGraphicFramePr>
          <p:nvPr/>
        </p:nvGraphicFramePr>
        <p:xfrm>
          <a:off x="704088" y="2084831"/>
          <a:ext cx="10835640" cy="3337556"/>
        </p:xfrm>
        <a:graphic>
          <a:graphicData uri="http://schemas.openxmlformats.org/drawingml/2006/table">
            <a:tbl>
              <a:tblPr firstRow="1" bandRow="1">
                <a:tableStyleId>{5C22544A-7EE6-4342-B048-85BDC9FD1C3A}</a:tableStyleId>
              </a:tblPr>
              <a:tblGrid>
                <a:gridCol w="3154680"/>
                <a:gridCol w="3840480"/>
                <a:gridCol w="3840480"/>
              </a:tblGrid>
              <a:tr h="502920">
                <a:tc>
                  <a:txBody>
                    <a:bodyPr/>
                    <a:lstStyle/>
                    <a:p>
                      <a:pPr>
                        <a:lnSpc>
                          <a:spcPct val="108000"/>
                        </a:lnSpc>
                        <a:spcAft>
                          <a:spcPts val="0"/>
                        </a:spcAft>
                        <a:defRPr sz="1700" b="1">
                          <a:solidFill>
                            <a:srgbClr val="63E2BD"/>
                          </a:solidFill>
                          <a:latin typeface="DejaVu Sans"/>
                        </a:defRPr>
                      </a:pPr>
                      <a:r>
                        <a:t>Approach</a:t>
                      </a:r>
                    </a:p>
                  </a:txBody>
                  <a:tcPr marL="118872" marR="118872" marT="73152" marB="73152" anchor="ctr">
                    <a:solidFill>
                      <a:srgbClr val="173046"/>
                    </a:solidFill>
                  </a:tcPr>
                </a:tc>
                <a:tc>
                  <a:txBody>
                    <a:bodyPr/>
                    <a:lstStyle/>
                    <a:p>
                      <a:pPr>
                        <a:lnSpc>
                          <a:spcPct val="108000"/>
                        </a:lnSpc>
                        <a:spcAft>
                          <a:spcPts val="0"/>
                        </a:spcAft>
                        <a:defRPr sz="1700" b="1">
                          <a:solidFill>
                            <a:srgbClr val="63E2BD"/>
                          </a:solidFill>
                          <a:latin typeface="DejaVu Sans"/>
                        </a:defRPr>
                      </a:pPr>
                      <a:r>
                        <a:t>Primary example</a:t>
                      </a:r>
                    </a:p>
                  </a:txBody>
                  <a:tcPr marL="118872" marR="118872" marT="73152" marB="73152" anchor="ctr">
                    <a:solidFill>
                      <a:srgbClr val="173046"/>
                    </a:solidFill>
                  </a:tcPr>
                </a:tc>
                <a:tc>
                  <a:txBody>
                    <a:bodyPr/>
                    <a:lstStyle/>
                    <a:p>
                      <a:pPr>
                        <a:lnSpc>
                          <a:spcPct val="108000"/>
                        </a:lnSpc>
                        <a:spcAft>
                          <a:spcPts val="0"/>
                        </a:spcAft>
                        <a:defRPr sz="1700" b="1">
                          <a:solidFill>
                            <a:srgbClr val="63E2BD"/>
                          </a:solidFill>
                          <a:latin typeface="DejaVu Sans"/>
                        </a:defRPr>
                      </a:pPr>
                      <a:r>
                        <a:t>Useful test</a:t>
                      </a:r>
                    </a:p>
                  </a:txBody>
                  <a:tcPr marL="118872" marR="118872" marT="73152" marB="73152" anchor="ctr">
                    <a:solidFill>
                      <a:srgbClr val="173046"/>
                    </a:solidFill>
                  </a:tcPr>
                </a:tc>
              </a:tr>
              <a:tr h="708659">
                <a:tc>
                  <a:txBody>
                    <a:bodyPr/>
                    <a:lstStyle/>
                    <a:p>
                      <a:pPr>
                        <a:lnSpc>
                          <a:spcPct val="108000"/>
                        </a:lnSpc>
                        <a:spcAft>
                          <a:spcPts val="0"/>
                        </a:spcAft>
                        <a:defRPr sz="1800" b="0">
                          <a:solidFill>
                            <a:srgbClr val="E9FAFC"/>
                          </a:solidFill>
                          <a:latin typeface="DejaVu Sans"/>
                        </a:defRPr>
                      </a:pPr>
                      <a:r>
                        <a:t>Adaptive intervention</a:t>
                      </a:r>
                    </a:p>
                  </a:txBody>
                  <a:tcPr marL="118872" marR="118872" marT="73152" marB="73152" anchor="ctr">
                    <a:solidFill>
                      <a:srgbClr val="10253A"/>
                    </a:solidFill>
                  </a:tcPr>
                </a:tc>
                <a:tc>
                  <a:txBody>
                    <a:bodyPr/>
                    <a:lstStyle/>
                    <a:p>
                      <a:pPr>
                        <a:lnSpc>
                          <a:spcPct val="108000"/>
                        </a:lnSpc>
                        <a:spcAft>
                          <a:spcPts val="0"/>
                        </a:spcAft>
                        <a:defRPr sz="1800" b="0">
                          <a:solidFill>
                            <a:srgbClr val="E9FAFC"/>
                          </a:solidFill>
                          <a:latin typeface="DejaVu Sans"/>
                        </a:defRPr>
                      </a:pPr>
                      <a:r>
                        <a:t>HeartSteps and JITAI</a:t>
                      </a:r>
                    </a:p>
                  </a:txBody>
                  <a:tcPr marL="118872" marR="118872" marT="73152" marB="73152" anchor="ctr">
                    <a:solidFill>
                      <a:srgbClr val="10253A"/>
                    </a:solidFill>
                  </a:tcPr>
                </a:tc>
                <a:tc>
                  <a:txBody>
                    <a:bodyPr/>
                    <a:lstStyle/>
                    <a:p>
                      <a:pPr>
                        <a:lnSpc>
                          <a:spcPct val="108000"/>
                        </a:lnSpc>
                        <a:spcAft>
                          <a:spcPts val="0"/>
                        </a:spcAft>
                        <a:defRPr sz="1800" b="0">
                          <a:solidFill>
                            <a:srgbClr val="E9FAFC"/>
                          </a:solidFill>
                          <a:latin typeface="DejaVu Sans"/>
                        </a:defRPr>
                      </a:pPr>
                      <a:r>
                        <a:t>Availability and repeated outcomes</a:t>
                      </a:r>
                    </a:p>
                  </a:txBody>
                  <a:tcPr marL="118872" marR="118872" marT="73152" marB="73152" anchor="ctr">
                    <a:solidFill>
                      <a:srgbClr val="10253A"/>
                    </a:solidFill>
                  </a:tcPr>
                </a:tc>
              </a:tr>
              <a:tr h="708659">
                <a:tc>
                  <a:txBody>
                    <a:bodyPr/>
                    <a:lstStyle/>
                    <a:p>
                      <a:pPr>
                        <a:lnSpc>
                          <a:spcPct val="108000"/>
                        </a:lnSpc>
                        <a:spcAft>
                          <a:spcPts val="0"/>
                        </a:spcAft>
                        <a:defRPr sz="1800" b="0">
                          <a:solidFill>
                            <a:srgbClr val="E9FAFC"/>
                          </a:solidFill>
                          <a:latin typeface="DejaVu Sans"/>
                        </a:defRPr>
                      </a:pPr>
                      <a:r>
                        <a:t>Multi-arm field experiment</a:t>
                      </a:r>
                    </a:p>
                  </a:txBody>
                  <a:tcPr marL="118872" marR="118872" marT="73152" marB="73152" anchor="ctr">
                    <a:solidFill>
                      <a:srgbClr val="081428"/>
                    </a:solidFill>
                  </a:tcPr>
                </a:tc>
                <a:tc>
                  <a:txBody>
                    <a:bodyPr/>
                    <a:lstStyle/>
                    <a:p>
                      <a:pPr>
                        <a:lnSpc>
                          <a:spcPct val="108000"/>
                        </a:lnSpc>
                        <a:spcAft>
                          <a:spcPts val="0"/>
                        </a:spcAft>
                        <a:defRPr sz="1800" b="0">
                          <a:solidFill>
                            <a:srgbClr val="E9FAFC"/>
                          </a:solidFill>
                          <a:latin typeface="DejaVu Sans"/>
                        </a:defRPr>
                      </a:pPr>
                      <a:r>
                        <a:t>Milkman et al., 2021</a:t>
                      </a:r>
                    </a:p>
                  </a:txBody>
                  <a:tcPr marL="118872" marR="118872" marT="73152" marB="73152" anchor="ctr">
                    <a:solidFill>
                      <a:srgbClr val="081428"/>
                    </a:solidFill>
                  </a:tcPr>
                </a:tc>
                <a:tc>
                  <a:txBody>
                    <a:bodyPr/>
                    <a:lstStyle/>
                    <a:p>
                      <a:pPr>
                        <a:lnSpc>
                          <a:spcPct val="108000"/>
                        </a:lnSpc>
                        <a:spcAft>
                          <a:spcPts val="0"/>
                        </a:spcAft>
                        <a:defRPr sz="1800" b="0">
                          <a:solidFill>
                            <a:srgbClr val="E9FAFC"/>
                          </a:solidFill>
                          <a:latin typeface="DejaVu Sans"/>
                        </a:defRPr>
                      </a:pPr>
                      <a:r>
                        <a:t>Shared comparison and persistence</a:t>
                      </a:r>
                    </a:p>
                  </a:txBody>
                  <a:tcPr marL="118872" marR="118872" marT="73152" marB="73152" anchor="ctr">
                    <a:solidFill>
                      <a:srgbClr val="081428"/>
                    </a:solidFill>
                  </a:tcPr>
                </a:tc>
              </a:tr>
              <a:tr h="708659">
                <a:tc>
                  <a:txBody>
                    <a:bodyPr/>
                    <a:lstStyle/>
                    <a:p>
                      <a:pPr>
                        <a:lnSpc>
                          <a:spcPct val="108000"/>
                        </a:lnSpc>
                        <a:spcAft>
                          <a:spcPts val="0"/>
                        </a:spcAft>
                        <a:defRPr sz="1800" b="0">
                          <a:solidFill>
                            <a:srgbClr val="E9FAFC"/>
                          </a:solidFill>
                          <a:latin typeface="DejaVu Sans"/>
                        </a:defRPr>
                      </a:pPr>
                      <a:r>
                        <a:t>Recipient outcome study</a:t>
                      </a:r>
                    </a:p>
                  </a:txBody>
                  <a:tcPr marL="118872" marR="118872" marT="73152" marB="73152" anchor="ctr">
                    <a:solidFill>
                      <a:srgbClr val="10253A"/>
                    </a:solidFill>
                  </a:tcPr>
                </a:tc>
                <a:tc>
                  <a:txBody>
                    <a:bodyPr/>
                    <a:lstStyle/>
                    <a:p>
                      <a:pPr>
                        <a:lnSpc>
                          <a:spcPct val="108000"/>
                        </a:lnSpc>
                        <a:spcAft>
                          <a:spcPts val="0"/>
                        </a:spcAft>
                        <a:defRPr sz="1800" b="0">
                          <a:solidFill>
                            <a:srgbClr val="E9FAFC"/>
                          </a:solidFill>
                          <a:latin typeface="DejaVu Sans"/>
                        </a:defRPr>
                      </a:pPr>
                      <a:r>
                        <a:t>Haushofer and Shapiro, 2016</a:t>
                      </a:r>
                    </a:p>
                  </a:txBody>
                  <a:tcPr marL="118872" marR="118872" marT="73152" marB="73152" anchor="ctr">
                    <a:solidFill>
                      <a:srgbClr val="10253A"/>
                    </a:solidFill>
                  </a:tcPr>
                </a:tc>
                <a:tc>
                  <a:txBody>
                    <a:bodyPr/>
                    <a:lstStyle/>
                    <a:p>
                      <a:pPr>
                        <a:lnSpc>
                          <a:spcPct val="108000"/>
                        </a:lnSpc>
                        <a:spcAft>
                          <a:spcPts val="0"/>
                        </a:spcAft>
                        <a:defRPr sz="1800" b="0">
                          <a:solidFill>
                            <a:srgbClr val="E9FAFC"/>
                          </a:solidFill>
                          <a:latin typeface="DejaVu Sans"/>
                        </a:defRPr>
                      </a:pPr>
                      <a:r>
                        <a:t>Benefit beyond transferred money</a:t>
                      </a:r>
                    </a:p>
                  </a:txBody>
                  <a:tcPr marL="118872" marR="118872" marT="73152" marB="73152" anchor="ctr">
                    <a:solidFill>
                      <a:srgbClr val="10253A"/>
                    </a:solidFill>
                  </a:tcPr>
                </a:tc>
              </a:tr>
              <a:tr h="708659">
                <a:tc>
                  <a:txBody>
                    <a:bodyPr/>
                    <a:lstStyle/>
                    <a:p>
                      <a:pPr>
                        <a:lnSpc>
                          <a:spcPct val="108000"/>
                        </a:lnSpc>
                        <a:spcAft>
                          <a:spcPts val="0"/>
                        </a:spcAft>
                        <a:defRPr sz="1800" b="0">
                          <a:solidFill>
                            <a:srgbClr val="E9FAFC"/>
                          </a:solidFill>
                          <a:latin typeface="DejaVu Sans"/>
                        </a:defRPr>
                      </a:pPr>
                      <a:r>
                        <a:t>Generative simulation</a:t>
                      </a:r>
                    </a:p>
                  </a:txBody>
                  <a:tcPr marL="118872" marR="118872" marT="73152" marB="73152" anchor="ctr">
                    <a:solidFill>
                      <a:srgbClr val="081428"/>
                    </a:solidFill>
                  </a:tcPr>
                </a:tc>
                <a:tc>
                  <a:txBody>
                    <a:bodyPr/>
                    <a:lstStyle/>
                    <a:p>
                      <a:pPr>
                        <a:lnSpc>
                          <a:spcPct val="108000"/>
                        </a:lnSpc>
                        <a:spcAft>
                          <a:spcPts val="0"/>
                        </a:spcAft>
                        <a:defRPr sz="1800" b="0">
                          <a:solidFill>
                            <a:srgbClr val="E9FAFC"/>
                          </a:solidFill>
                          <a:latin typeface="DejaVu Sans"/>
                        </a:defRPr>
                      </a:pPr>
                      <a:r>
                        <a:t>Park et al., 2023</a:t>
                      </a:r>
                    </a:p>
                  </a:txBody>
                  <a:tcPr marL="118872" marR="118872" marT="73152" marB="73152" anchor="ctr">
                    <a:solidFill>
                      <a:srgbClr val="081428"/>
                    </a:solidFill>
                  </a:tcPr>
                </a:tc>
                <a:tc>
                  <a:txBody>
                    <a:bodyPr/>
                    <a:lstStyle/>
                    <a:p>
                      <a:pPr>
                        <a:lnSpc>
                          <a:spcPct val="108000"/>
                        </a:lnSpc>
                        <a:spcAft>
                          <a:spcPts val="0"/>
                        </a:spcAft>
                        <a:defRPr sz="1800" b="0">
                          <a:solidFill>
                            <a:srgbClr val="E9FAFC"/>
                          </a:solidFill>
                          <a:latin typeface="DejaVu Sans"/>
                        </a:defRPr>
                      </a:pPr>
                      <a:r>
                        <a:t>Behavioral fidelity on held-out cases</a:t>
                      </a:r>
                    </a:p>
                  </a:txBody>
                  <a:tcPr marL="118872" marR="118872" marT="73152" marB="73152" anchor="ctr">
                    <a:solidFill>
                      <a:srgbClr val="081428"/>
                    </a:solidFill>
                  </a:tcPr>
                </a:tc>
              </a:tr>
            </a:tbl>
          </a:graphicData>
        </a:graphic>
      </p:graphicFrame>
      <p:sp>
        <p:nvSpPr>
          <p:cNvPr id="5" name="TextBox 4"/>
          <p:cNvSpPr txBox="1"/>
          <p:nvPr/>
        </p:nvSpPr>
        <p:spPr>
          <a:xfrm>
            <a:off x="704088" y="6400800"/>
            <a:ext cx="10287000" cy="283464"/>
          </a:xfrm>
          <a:prstGeom prst="rect">
            <a:avLst/>
          </a:prstGeom>
          <a:noFill/>
        </p:spPr>
        <p:txBody>
          <a:bodyPr wrap="square" lIns="0" rIns="0" tIns="22860" bIns="22860">
            <a:spAutoFit/>
          </a:bodyPr>
          <a:lstStyle/>
          <a:p>
            <a:pPr>
              <a:lnSpc>
                <a:spcPct val="108000"/>
              </a:lnSpc>
              <a:spcBef>
                <a:spcPts val="0"/>
              </a:spcBef>
              <a:spcAft>
                <a:spcPts val="400"/>
              </a:spcAft>
              <a:defRPr sz="950" b="0">
                <a:solidFill>
                  <a:srgbClr val="ABC1CE"/>
                </a:solidFill>
                <a:latin typeface="DejaVu Sans"/>
              </a:defRPr>
            </a:pPr>
            <a:r>
              <a:t>Sources: </a:t>
            </a:r>
            <a:r>
              <a:rPr>
                <a:solidFill>
                  <a:srgbClr val="ABC1CE"/>
                </a:solidFill>
                <a:hlinkClick r:id="rId3"/>
              </a:rPr>
              <a:t>HeartSteps</a:t>
            </a:r>
            <a:r>
              <a:t> / </a:t>
            </a:r>
            <a:r>
              <a:rPr>
                <a:solidFill>
                  <a:srgbClr val="ABC1CE"/>
                </a:solidFill>
                <a:hlinkClick r:id="rId4"/>
              </a:rPr>
              <a:t>JITAI</a:t>
            </a:r>
            <a:r>
              <a:t> / </a:t>
            </a:r>
            <a:r>
              <a:rPr>
                <a:solidFill>
                  <a:srgbClr val="ABC1CE"/>
                </a:solidFill>
                <a:hlinkClick r:id="rId5"/>
              </a:rPr>
              <a:t>Milkman et al. 2021</a:t>
            </a:r>
            <a:r>
              <a:t> / </a:t>
            </a:r>
            <a:r>
              <a:rPr>
                <a:solidFill>
                  <a:srgbClr val="ABC1CE"/>
                </a:solidFill>
                <a:hlinkClick r:id="rId6"/>
              </a:rPr>
              <a:t>Haushofer &amp; Shapiro 2016</a:t>
            </a:r>
            <a:r>
              <a:t> / </a:t>
            </a:r>
            <a:r>
              <a:rPr>
                <a:solidFill>
                  <a:srgbClr val="ABC1CE"/>
                </a:solidFill>
                <a:hlinkClick r:id="rId7"/>
              </a:rPr>
              <a:t>Park et al. 2023</a:t>
            </a:r>
            <a:r>
              <a:t> / </a:t>
            </a:r>
            <a:r>
              <a:rPr>
                <a:solidFill>
                  <a:srgbClr val="ABC1CE"/>
                </a:solidFill>
              </a:rPr>
              <a:t>Researcher map</a:t>
            </a:r>
          </a:p>
        </p:txBody>
      </p:sp>
      <p:sp>
        <p:nvSpPr>
          <p:cNvPr id="6" name="TextBox 5"/>
          <p:cNvSpPr txBox="1"/>
          <p:nvPr/>
        </p:nvSpPr>
        <p:spPr>
          <a:xfrm>
            <a:off x="11064240" y="6382512"/>
            <a:ext cx="411480" cy="292608"/>
          </a:xfrm>
          <a:prstGeom prst="rect">
            <a:avLst/>
          </a:prstGeom>
          <a:noFill/>
        </p:spPr>
        <p:txBody>
          <a:bodyPr wrap="square" lIns="0" rIns="0" tIns="22860" bIns="22860">
            <a:spAutoFit/>
          </a:bodyPr>
          <a:lstStyle/>
          <a:p>
            <a:pPr>
              <a:lnSpc>
                <a:spcPct val="108000"/>
              </a:lnSpc>
              <a:spcBef>
                <a:spcPts val="0"/>
              </a:spcBef>
              <a:spcAft>
                <a:spcPts val="400"/>
              </a:spcAft>
              <a:defRPr sz="1100" b="1">
                <a:solidFill>
                  <a:srgbClr val="63E2BD"/>
                </a:solidFill>
                <a:latin typeface="DejaVu Sans"/>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1428"/>
        </a:solidFill>
        <a:effectLst/>
      </p:bgPr>
    </p:bg>
    <p:spTree>
      <p:nvGrpSpPr>
        <p:cNvPr id="1" name=""/>
        <p:cNvGrpSpPr/>
        <p:nvPr/>
      </p:nvGrpSpPr>
      <p:grpSpPr/>
      <p:sp>
        <p:nvSpPr>
          <p:cNvPr id="2" name="TextBox 1"/>
          <p:cNvSpPr txBox="1"/>
          <p:nvPr/>
        </p:nvSpPr>
        <p:spPr>
          <a:xfrm>
            <a:off x="685800" y="576072"/>
            <a:ext cx="10881360" cy="941832"/>
          </a:xfrm>
          <a:prstGeom prst="rect">
            <a:avLst/>
          </a:prstGeom>
          <a:noFill/>
        </p:spPr>
        <p:txBody>
          <a:bodyPr wrap="square" lIns="0" rIns="0" tIns="22860" bIns="22860">
            <a:spAutoFit/>
          </a:bodyPr>
          <a:lstStyle/>
          <a:p>
            <a:pPr>
              <a:lnSpc>
                <a:spcPct val="108000"/>
              </a:lnSpc>
              <a:spcBef>
                <a:spcPts val="0"/>
              </a:spcBef>
              <a:spcAft>
                <a:spcPts val="400"/>
              </a:spcAft>
              <a:defRPr sz="3100" b="1">
                <a:solidFill>
                  <a:srgbClr val="FCFDFE"/>
                </a:solidFill>
                <a:latin typeface="DejaVu Sans"/>
              </a:defRPr>
            </a:pPr>
            <a:r>
              <a:t>Public aggregates provide population context</a:t>
            </a:r>
          </a:p>
        </p:txBody>
      </p:sp>
      <p:sp>
        <p:nvSpPr>
          <p:cNvPr id="3" name="TextBox 2"/>
          <p:cNvSpPr txBox="1"/>
          <p:nvPr/>
        </p:nvSpPr>
        <p:spPr>
          <a:xfrm>
            <a:off x="722376" y="1508760"/>
            <a:ext cx="10698480" cy="475488"/>
          </a:xfrm>
          <a:prstGeom prst="rect">
            <a:avLst/>
          </a:prstGeom>
          <a:noFill/>
        </p:spPr>
        <p:txBody>
          <a:bodyPr wrap="square" lIns="0" rIns="0" tIns="22860" bIns="22860">
            <a:spAutoFit/>
          </a:bodyPr>
          <a:lstStyle/>
          <a:p>
            <a:pPr>
              <a:lnSpc>
                <a:spcPct val="108000"/>
              </a:lnSpc>
              <a:spcBef>
                <a:spcPts val="0"/>
              </a:spcBef>
              <a:spcAft>
                <a:spcPts val="400"/>
              </a:spcAft>
              <a:defRPr sz="1600" b="0">
                <a:solidFill>
                  <a:srgbClr val="ABC1CE"/>
                </a:solidFill>
                <a:latin typeface="DejaVu Sans"/>
              </a:defRPr>
            </a:pPr>
            <a:r>
              <a:t>Community Life Survey 2024/25, England adults aged 16+</a:t>
            </a:r>
          </a:p>
        </p:txBody>
      </p:sp>
      <p:sp>
        <p:nvSpPr>
          <p:cNvPr id="4" name="TextBox 3"/>
          <p:cNvSpPr txBox="1"/>
          <p:nvPr/>
        </p:nvSpPr>
        <p:spPr>
          <a:xfrm>
            <a:off x="731520" y="2240280"/>
            <a:ext cx="4754880" cy="1143000"/>
          </a:xfrm>
          <a:prstGeom prst="rect">
            <a:avLst/>
          </a:prstGeom>
          <a:noFill/>
        </p:spPr>
        <p:txBody>
          <a:bodyPr wrap="square" lIns="0" rIns="0" tIns="22860" bIns="22860">
            <a:spAutoFit/>
          </a:bodyPr>
          <a:lstStyle/>
          <a:p>
            <a:pPr>
              <a:lnSpc>
                <a:spcPct val="108000"/>
              </a:lnSpc>
              <a:spcBef>
                <a:spcPts val="0"/>
              </a:spcBef>
              <a:spcAft>
                <a:spcPts val="400"/>
              </a:spcAft>
              <a:defRPr sz="7400" b="1">
                <a:solidFill>
                  <a:srgbClr val="63E2BD"/>
                </a:solidFill>
                <a:latin typeface="DejaVu Sans"/>
              </a:defRPr>
            </a:pPr>
            <a:r>
              <a:t>6.6%</a:t>
            </a:r>
          </a:p>
        </p:txBody>
      </p:sp>
      <p:sp>
        <p:nvSpPr>
          <p:cNvPr id="5" name="TextBox 4"/>
          <p:cNvSpPr txBox="1"/>
          <p:nvPr/>
        </p:nvSpPr>
        <p:spPr>
          <a:xfrm>
            <a:off x="731520" y="3685032"/>
            <a:ext cx="4800600" cy="758952"/>
          </a:xfrm>
          <a:prstGeom prst="rect">
            <a:avLst/>
          </a:prstGeom>
          <a:noFill/>
        </p:spPr>
        <p:txBody>
          <a:bodyPr wrap="square" lIns="0" rIns="0" tIns="22860" bIns="22860">
            <a:spAutoFit/>
          </a:bodyPr>
          <a:lstStyle/>
          <a:p>
            <a:pPr>
              <a:lnSpc>
                <a:spcPct val="108000"/>
              </a:lnSpc>
              <a:spcBef>
                <a:spcPts val="0"/>
              </a:spcBef>
              <a:spcAft>
                <a:spcPts val="400"/>
              </a:spcAft>
              <a:defRPr sz="2300" b="1">
                <a:solidFill>
                  <a:srgbClr val="FCFDFE"/>
                </a:solidFill>
                <a:latin typeface="DejaVu Sans"/>
              </a:defRPr>
            </a:pPr>
            <a:r>
              <a:t>Often or always lonely</a:t>
            </a:r>
          </a:p>
        </p:txBody>
      </p:sp>
      <p:sp>
        <p:nvSpPr>
          <p:cNvPr id="6" name="TextBox 5"/>
          <p:cNvSpPr txBox="1"/>
          <p:nvPr/>
        </p:nvSpPr>
        <p:spPr>
          <a:xfrm>
            <a:off x="731520" y="4690872"/>
            <a:ext cx="4800600" cy="594360"/>
          </a:xfrm>
          <a:prstGeom prst="rect">
            <a:avLst/>
          </a:prstGeom>
          <a:noFill/>
        </p:spPr>
        <p:txBody>
          <a:bodyPr wrap="square" lIns="0" rIns="0" tIns="22860" bIns="22860">
            <a:spAutoFit/>
          </a:bodyPr>
          <a:lstStyle/>
          <a:p>
            <a:pPr>
              <a:lnSpc>
                <a:spcPct val="108000"/>
              </a:lnSpc>
              <a:spcBef>
                <a:spcPts val="0"/>
              </a:spcBef>
              <a:spcAft>
                <a:spcPts val="400"/>
              </a:spcAft>
              <a:defRPr sz="1600" b="0">
                <a:solidFill>
                  <a:srgbClr val="ABC1CE"/>
                </a:solidFill>
                <a:latin typeface="DejaVu Sans"/>
              </a:defRPr>
            </a:pPr>
            <a:r>
              <a:t>October 2024–March 2025</a:t>
            </a:r>
          </a:p>
        </p:txBody>
      </p:sp>
      <p:sp>
        <p:nvSpPr>
          <p:cNvPr id="7" name="TextBox 6"/>
          <p:cNvSpPr txBox="1"/>
          <p:nvPr/>
        </p:nvSpPr>
        <p:spPr>
          <a:xfrm>
            <a:off x="6400800" y="2240280"/>
            <a:ext cx="4754880" cy="1143000"/>
          </a:xfrm>
          <a:prstGeom prst="rect">
            <a:avLst/>
          </a:prstGeom>
          <a:noFill/>
        </p:spPr>
        <p:txBody>
          <a:bodyPr wrap="square" lIns="0" rIns="0" tIns="22860" bIns="22860">
            <a:spAutoFit/>
          </a:bodyPr>
          <a:lstStyle/>
          <a:p>
            <a:pPr>
              <a:lnSpc>
                <a:spcPct val="108000"/>
              </a:lnSpc>
              <a:spcBef>
                <a:spcPts val="0"/>
              </a:spcBef>
              <a:spcAft>
                <a:spcPts val="400"/>
              </a:spcAft>
              <a:defRPr sz="7400" b="1">
                <a:solidFill>
                  <a:srgbClr val="63E2BD"/>
                </a:solidFill>
                <a:latin typeface="DejaVu Sans"/>
              </a:defRPr>
            </a:pPr>
            <a:r>
              <a:t>3–9</a:t>
            </a:r>
          </a:p>
        </p:txBody>
      </p:sp>
      <p:sp>
        <p:nvSpPr>
          <p:cNvPr id="8" name="TextBox 7"/>
          <p:cNvSpPr txBox="1"/>
          <p:nvPr/>
        </p:nvSpPr>
        <p:spPr>
          <a:xfrm>
            <a:off x="6400800" y="3685032"/>
            <a:ext cx="4800600" cy="758952"/>
          </a:xfrm>
          <a:prstGeom prst="rect">
            <a:avLst/>
          </a:prstGeom>
          <a:noFill/>
        </p:spPr>
        <p:txBody>
          <a:bodyPr wrap="square" lIns="0" rIns="0" tIns="22860" bIns="22860">
            <a:spAutoFit/>
          </a:bodyPr>
          <a:lstStyle/>
          <a:p>
            <a:pPr>
              <a:lnSpc>
                <a:spcPct val="108000"/>
              </a:lnSpc>
              <a:spcBef>
                <a:spcPts val="0"/>
              </a:spcBef>
              <a:spcAft>
                <a:spcPts val="400"/>
              </a:spcAft>
              <a:defRPr sz="2300" b="1">
                <a:solidFill>
                  <a:srgbClr val="FCFDFE"/>
                </a:solidFill>
                <a:latin typeface="DejaVu Sans"/>
              </a:defRPr>
            </a:pPr>
            <a:r>
              <a:t>Indirect loneliness score range</a:t>
            </a:r>
          </a:p>
        </p:txBody>
      </p:sp>
      <p:sp>
        <p:nvSpPr>
          <p:cNvPr id="9" name="TextBox 8"/>
          <p:cNvSpPr txBox="1"/>
          <p:nvPr/>
        </p:nvSpPr>
        <p:spPr>
          <a:xfrm>
            <a:off x="6400800" y="4690872"/>
            <a:ext cx="4800600" cy="594360"/>
          </a:xfrm>
          <a:prstGeom prst="rect">
            <a:avLst/>
          </a:prstGeom>
          <a:noFill/>
        </p:spPr>
        <p:txBody>
          <a:bodyPr wrap="square" lIns="0" rIns="0" tIns="22860" bIns="22860">
            <a:spAutoFit/>
          </a:bodyPr>
          <a:lstStyle/>
          <a:p>
            <a:pPr>
              <a:lnSpc>
                <a:spcPct val="108000"/>
              </a:lnSpc>
              <a:spcBef>
                <a:spcPts val="0"/>
              </a:spcBef>
              <a:spcAft>
                <a:spcPts val="400"/>
              </a:spcAft>
              <a:defRPr sz="1600" b="0">
                <a:solidFill>
                  <a:srgbClr val="ABC1CE"/>
                </a:solidFill>
                <a:latin typeface="DejaVu Sans"/>
              </a:defRPr>
            </a:pPr>
            <a:r>
              <a:t>A distinct instrument and unit</a:t>
            </a:r>
          </a:p>
        </p:txBody>
      </p:sp>
      <p:sp>
        <p:nvSpPr>
          <p:cNvPr id="10" name="TextBox 9"/>
          <p:cNvSpPr txBox="1"/>
          <p:nvPr/>
        </p:nvSpPr>
        <p:spPr>
          <a:xfrm>
            <a:off x="731520" y="5742432"/>
            <a:ext cx="10789920" cy="502920"/>
          </a:xfrm>
          <a:prstGeom prst="rect">
            <a:avLst/>
          </a:prstGeom>
          <a:noFill/>
        </p:spPr>
        <p:txBody>
          <a:bodyPr wrap="square" lIns="0" rIns="0" tIns="22860" bIns="22860">
            <a:spAutoFit/>
          </a:bodyPr>
          <a:lstStyle/>
          <a:p>
            <a:pPr>
              <a:lnSpc>
                <a:spcPct val="108000"/>
              </a:lnSpc>
              <a:spcBef>
                <a:spcPts val="0"/>
              </a:spcBef>
              <a:spcAft>
                <a:spcPts val="400"/>
              </a:spcAft>
              <a:defRPr sz="1750" b="0">
                <a:solidFill>
                  <a:srgbClr val="FEB763"/>
                </a:solidFill>
                <a:latin typeface="DejaVu Sans"/>
              </a:defRPr>
            </a:pPr>
            <a:r>
              <a:t>Neither figure describes a Manager visitor or estimates a Manager effect.</a:t>
            </a:r>
          </a:p>
        </p:txBody>
      </p:sp>
      <p:sp>
        <p:nvSpPr>
          <p:cNvPr id="11" name="TextBox 10"/>
          <p:cNvSpPr txBox="1"/>
          <p:nvPr/>
        </p:nvSpPr>
        <p:spPr>
          <a:xfrm>
            <a:off x="704088" y="6400800"/>
            <a:ext cx="10287000" cy="283464"/>
          </a:xfrm>
          <a:prstGeom prst="rect">
            <a:avLst/>
          </a:prstGeom>
          <a:noFill/>
        </p:spPr>
        <p:txBody>
          <a:bodyPr wrap="square" lIns="0" rIns="0" tIns="22860" bIns="22860">
            <a:spAutoFit/>
          </a:bodyPr>
          <a:lstStyle/>
          <a:p>
            <a:pPr>
              <a:lnSpc>
                <a:spcPct val="108000"/>
              </a:lnSpc>
              <a:spcBef>
                <a:spcPts val="0"/>
              </a:spcBef>
              <a:spcAft>
                <a:spcPts val="400"/>
              </a:spcAft>
              <a:defRPr sz="950" b="0">
                <a:solidFill>
                  <a:srgbClr val="ABC1CE"/>
                </a:solidFill>
                <a:latin typeface="DejaVu Sans"/>
              </a:defRPr>
            </a:pPr>
            <a:r>
              <a:t>Sources: </a:t>
            </a:r>
            <a:r>
              <a:rPr>
                <a:solidFill>
                  <a:srgbClr val="ABC1CE"/>
                </a:solidFill>
                <a:hlinkClick r:id="rId3"/>
              </a:rPr>
              <a:t>Community Life Survey 2024/25</a:t>
            </a:r>
            <a:r>
              <a:t> / </a:t>
            </a:r>
            <a:r>
              <a:rPr>
                <a:solidFill>
                  <a:srgbClr val="ABC1CE"/>
                </a:solidFill>
                <a:hlinkClick r:id="rId4"/>
              </a:rPr>
              <a:t>ONS loneliness guidance</a:t>
            </a:r>
          </a:p>
        </p:txBody>
      </p:sp>
      <p:sp>
        <p:nvSpPr>
          <p:cNvPr id="12" name="TextBox 11"/>
          <p:cNvSpPr txBox="1"/>
          <p:nvPr/>
        </p:nvSpPr>
        <p:spPr>
          <a:xfrm>
            <a:off x="11064240" y="6382512"/>
            <a:ext cx="411480" cy="292608"/>
          </a:xfrm>
          <a:prstGeom prst="rect">
            <a:avLst/>
          </a:prstGeom>
          <a:noFill/>
        </p:spPr>
        <p:txBody>
          <a:bodyPr wrap="square" lIns="0" rIns="0" tIns="22860" bIns="22860">
            <a:spAutoFit/>
          </a:bodyPr>
          <a:lstStyle/>
          <a:p>
            <a:pPr>
              <a:lnSpc>
                <a:spcPct val="108000"/>
              </a:lnSpc>
              <a:spcBef>
                <a:spcPts val="0"/>
              </a:spcBef>
              <a:spcAft>
                <a:spcPts val="400"/>
              </a:spcAft>
              <a:defRPr sz="1100" b="1">
                <a:solidFill>
                  <a:srgbClr val="63E2BD"/>
                </a:solidFill>
                <a:latin typeface="DejaVu Sans"/>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1428"/>
        </a:solidFill>
        <a:effectLst/>
      </p:bgPr>
    </p:bg>
    <p:spTree>
      <p:nvGrpSpPr>
        <p:cNvPr id="1" name=""/>
        <p:cNvGrpSpPr/>
        <p:nvPr/>
      </p:nvGrpSpPr>
      <p:grpSpPr/>
      <p:sp>
        <p:nvSpPr>
          <p:cNvPr id="2" name="TextBox 1"/>
          <p:cNvSpPr txBox="1"/>
          <p:nvPr/>
        </p:nvSpPr>
        <p:spPr>
          <a:xfrm>
            <a:off x="685800" y="576072"/>
            <a:ext cx="10881360" cy="941832"/>
          </a:xfrm>
          <a:prstGeom prst="rect">
            <a:avLst/>
          </a:prstGeom>
          <a:noFill/>
        </p:spPr>
        <p:txBody>
          <a:bodyPr wrap="square" lIns="0" rIns="0" tIns="22860" bIns="22860">
            <a:spAutoFit/>
          </a:bodyPr>
          <a:lstStyle/>
          <a:p>
            <a:pPr>
              <a:lnSpc>
                <a:spcPct val="108000"/>
              </a:lnSpc>
              <a:spcBef>
                <a:spcPts val="0"/>
              </a:spcBef>
              <a:spcAft>
                <a:spcPts val="400"/>
              </a:spcAft>
              <a:defRPr sz="3100" b="1">
                <a:solidFill>
                  <a:srgbClr val="FCFDFE"/>
                </a:solidFill>
                <a:latin typeface="DejaVu Sans"/>
              </a:defRPr>
            </a:pPr>
            <a:r>
              <a:t>Evidence status for the current prototype</a:t>
            </a:r>
          </a:p>
        </p:txBody>
      </p:sp>
      <p:sp>
        <p:nvSpPr>
          <p:cNvPr id="3" name="TextBox 2"/>
          <p:cNvSpPr txBox="1"/>
          <p:nvPr/>
        </p:nvSpPr>
        <p:spPr>
          <a:xfrm>
            <a:off x="722376" y="1508760"/>
            <a:ext cx="10698480" cy="475488"/>
          </a:xfrm>
          <a:prstGeom prst="rect">
            <a:avLst/>
          </a:prstGeom>
          <a:noFill/>
        </p:spPr>
        <p:txBody>
          <a:bodyPr wrap="square" lIns="0" rIns="0" tIns="22860" bIns="22860">
            <a:spAutoFit/>
          </a:bodyPr>
          <a:lstStyle/>
          <a:p>
            <a:pPr>
              <a:lnSpc>
                <a:spcPct val="108000"/>
              </a:lnSpc>
              <a:spcBef>
                <a:spcPts val="0"/>
              </a:spcBef>
              <a:spcAft>
                <a:spcPts val="400"/>
              </a:spcAft>
              <a:defRPr sz="1600" b="0">
                <a:solidFill>
                  <a:srgbClr val="ABC1CE"/>
                </a:solidFill>
                <a:latin typeface="DejaVu Sans"/>
              </a:defRPr>
            </a:pPr>
            <a:r>
              <a:t>Real delivery and unmeasured human outcomes coexist</a:t>
            </a:r>
          </a:p>
        </p:txBody>
      </p:sp>
      <p:graphicFrame>
        <p:nvGraphicFramePr>
          <p:cNvPr id="4" name="Table 3"/>
          <p:cNvGraphicFramePr>
            <a:graphicFrameLocks noGrp="1"/>
          </p:cNvGraphicFramePr>
          <p:nvPr/>
        </p:nvGraphicFramePr>
        <p:xfrm>
          <a:off x="704088" y="2084831"/>
          <a:ext cx="10835640" cy="3511296"/>
        </p:xfrm>
        <a:graphic>
          <a:graphicData uri="http://schemas.openxmlformats.org/drawingml/2006/table">
            <a:tbl>
              <a:tblPr firstRow="1" bandRow="1">
                <a:tableStyleId>{5C22544A-7EE6-4342-B048-85BDC9FD1C3A}</a:tableStyleId>
              </a:tblPr>
              <a:tblGrid>
                <a:gridCol w="914400"/>
                <a:gridCol w="6400800"/>
                <a:gridCol w="3520440"/>
              </a:tblGrid>
              <a:tr h="502920">
                <a:tc>
                  <a:txBody>
                    <a:bodyPr/>
                    <a:lstStyle/>
                    <a:p>
                      <a:pPr>
                        <a:lnSpc>
                          <a:spcPct val="108000"/>
                        </a:lnSpc>
                        <a:spcAft>
                          <a:spcPts val="0"/>
                        </a:spcAft>
                        <a:defRPr sz="1700" b="1">
                          <a:solidFill>
                            <a:srgbClr val="63E2BD"/>
                          </a:solidFill>
                          <a:latin typeface="DejaVu Sans"/>
                        </a:defRPr>
                      </a:pPr>
                      <a:r>
                        <a:t>Level</a:t>
                      </a:r>
                    </a:p>
                  </a:txBody>
                  <a:tcPr marL="118872" marR="118872" marT="73152" marB="73152" anchor="ctr">
                    <a:solidFill>
                      <a:srgbClr val="173046"/>
                    </a:solidFill>
                  </a:tcPr>
                </a:tc>
                <a:tc>
                  <a:txBody>
                    <a:bodyPr/>
                    <a:lstStyle/>
                    <a:p>
                      <a:pPr>
                        <a:lnSpc>
                          <a:spcPct val="108000"/>
                        </a:lnSpc>
                        <a:spcAft>
                          <a:spcPts val="0"/>
                        </a:spcAft>
                        <a:defRPr sz="1700" b="1">
                          <a:solidFill>
                            <a:srgbClr val="63E2BD"/>
                          </a:solidFill>
                          <a:latin typeface="DejaVu Sans"/>
                        </a:defRPr>
                      </a:pPr>
                      <a:r>
                        <a:t>Meaning</a:t>
                      </a:r>
                    </a:p>
                  </a:txBody>
                  <a:tcPr marL="118872" marR="118872" marT="73152" marB="73152" anchor="ctr">
                    <a:solidFill>
                      <a:srgbClr val="173046"/>
                    </a:solidFill>
                  </a:tcPr>
                </a:tc>
                <a:tc>
                  <a:txBody>
                    <a:bodyPr/>
                    <a:lstStyle/>
                    <a:p>
                      <a:pPr>
                        <a:lnSpc>
                          <a:spcPct val="108000"/>
                        </a:lnSpc>
                        <a:spcAft>
                          <a:spcPts val="0"/>
                        </a:spcAft>
                        <a:defRPr sz="1700" b="1">
                          <a:solidFill>
                            <a:srgbClr val="63E2BD"/>
                          </a:solidFill>
                          <a:latin typeface="DejaVu Sans"/>
                        </a:defRPr>
                      </a:pPr>
                      <a:r>
                        <a:t>Current interpretation</a:t>
                      </a:r>
                    </a:p>
                  </a:txBody>
                  <a:tcPr marL="118872" marR="118872" marT="73152" marB="73152" anchor="ctr">
                    <a:solidFill>
                      <a:srgbClr val="173046"/>
                    </a:solidFill>
                  </a:tcPr>
                </a:tc>
              </a:tr>
              <a:tr h="501396">
                <a:tc>
                  <a:txBody>
                    <a:bodyPr/>
                    <a:lstStyle/>
                    <a:p>
                      <a:pPr>
                        <a:lnSpc>
                          <a:spcPct val="108000"/>
                        </a:lnSpc>
                        <a:spcAft>
                          <a:spcPts val="0"/>
                        </a:spcAft>
                        <a:defRPr sz="1750" b="0">
                          <a:solidFill>
                            <a:srgbClr val="E9FAFC"/>
                          </a:solidFill>
                          <a:latin typeface="DejaVu Sans"/>
                        </a:defRPr>
                      </a:pPr>
                      <a:r>
                        <a:t>P0</a:t>
                      </a:r>
                    </a:p>
                  </a:txBody>
                  <a:tcPr marL="118872" marR="118872" marT="73152" marB="73152" anchor="ctr">
                    <a:solidFill>
                      <a:srgbClr val="10253A"/>
                    </a:solidFill>
                  </a:tcPr>
                </a:tc>
                <a:tc>
                  <a:txBody>
                    <a:bodyPr/>
                    <a:lstStyle/>
                    <a:p>
                      <a:pPr>
                        <a:lnSpc>
                          <a:spcPct val="108000"/>
                        </a:lnSpc>
                        <a:spcAft>
                          <a:spcPts val="0"/>
                        </a:spcAft>
                        <a:defRPr sz="1750" b="0">
                          <a:solidFill>
                            <a:srgbClr val="E9FAFC"/>
                          </a:solidFill>
                          <a:latin typeface="DejaVu Sans"/>
                        </a:defRPr>
                      </a:pPr>
                      <a:r>
                        <a:t>Simulation or model/task score</a:t>
                      </a:r>
                    </a:p>
                  </a:txBody>
                  <a:tcPr marL="118872" marR="118872" marT="73152" marB="73152" anchor="ctr">
                    <a:solidFill>
                      <a:srgbClr val="10253A"/>
                    </a:solidFill>
                  </a:tcPr>
                </a:tc>
                <a:tc>
                  <a:txBody>
                    <a:bodyPr/>
                    <a:lstStyle/>
                    <a:p>
                      <a:pPr>
                        <a:lnSpc>
                          <a:spcPct val="108000"/>
                        </a:lnSpc>
                        <a:spcAft>
                          <a:spcPts val="0"/>
                        </a:spcAft>
                        <a:defRPr sz="1750" b="0">
                          <a:solidFill>
                            <a:srgbClr val="E9FAFC"/>
                          </a:solidFill>
                          <a:latin typeface="DejaVu Sans"/>
                        </a:defRPr>
                      </a:pPr>
                      <a:r>
                        <a:t>Research evidence</a:t>
                      </a:r>
                    </a:p>
                  </a:txBody>
                  <a:tcPr marL="118872" marR="118872" marT="73152" marB="73152" anchor="ctr">
                    <a:solidFill>
                      <a:srgbClr val="10253A"/>
                    </a:solidFill>
                  </a:tcPr>
                </a:tc>
              </a:tr>
              <a:tr h="501396">
                <a:tc>
                  <a:txBody>
                    <a:bodyPr/>
                    <a:lstStyle/>
                    <a:p>
                      <a:pPr>
                        <a:lnSpc>
                          <a:spcPct val="108000"/>
                        </a:lnSpc>
                        <a:spcAft>
                          <a:spcPts val="0"/>
                        </a:spcAft>
                        <a:defRPr sz="1750" b="0">
                          <a:solidFill>
                            <a:srgbClr val="E9FAFC"/>
                          </a:solidFill>
                          <a:latin typeface="DejaVu Sans"/>
                        </a:defRPr>
                      </a:pPr>
                      <a:r>
                        <a:t>P1</a:t>
                      </a:r>
                    </a:p>
                  </a:txBody>
                  <a:tcPr marL="118872" marR="118872" marT="73152" marB="73152" anchor="ctr">
                    <a:solidFill>
                      <a:srgbClr val="081428"/>
                    </a:solidFill>
                  </a:tcPr>
                </a:tc>
                <a:tc>
                  <a:txBody>
                    <a:bodyPr/>
                    <a:lstStyle/>
                    <a:p>
                      <a:pPr>
                        <a:lnSpc>
                          <a:spcPct val="108000"/>
                        </a:lnSpc>
                        <a:spcAft>
                          <a:spcPts val="0"/>
                        </a:spcAft>
                        <a:defRPr sz="1750" b="0">
                          <a:solidFill>
                            <a:srgbClr val="E9FAFC"/>
                          </a:solidFill>
                          <a:latin typeface="DejaVu Sans"/>
                        </a:defRPr>
                      </a:pPr>
                      <a:r>
                        <a:t>Authentic execution receipt</a:t>
                      </a:r>
                    </a:p>
                  </a:txBody>
                  <a:tcPr marL="118872" marR="118872" marT="73152" marB="73152" anchor="ctr">
                    <a:solidFill>
                      <a:srgbClr val="081428"/>
                    </a:solidFill>
                  </a:tcPr>
                </a:tc>
                <a:tc>
                  <a:txBody>
                    <a:bodyPr/>
                    <a:lstStyle/>
                    <a:p>
                      <a:pPr>
                        <a:lnSpc>
                          <a:spcPct val="108000"/>
                        </a:lnSpc>
                        <a:spcAft>
                          <a:spcPts val="0"/>
                        </a:spcAft>
                        <a:defRPr sz="1750" b="0">
                          <a:solidFill>
                            <a:srgbClr val="E9FAFC"/>
                          </a:solidFill>
                          <a:latin typeface="DejaVu Sans"/>
                        </a:defRPr>
                      </a:pPr>
                      <a:r>
                        <a:t>Action evidence</a:t>
                      </a:r>
                    </a:p>
                  </a:txBody>
                  <a:tcPr marL="118872" marR="118872" marT="73152" marB="73152" anchor="ctr">
                    <a:solidFill>
                      <a:srgbClr val="081428"/>
                    </a:solidFill>
                  </a:tcPr>
                </a:tc>
              </a:tr>
              <a:tr h="501396">
                <a:tc>
                  <a:txBody>
                    <a:bodyPr/>
                    <a:lstStyle/>
                    <a:p>
                      <a:pPr>
                        <a:lnSpc>
                          <a:spcPct val="108000"/>
                        </a:lnSpc>
                        <a:spcAft>
                          <a:spcPts val="0"/>
                        </a:spcAft>
                        <a:defRPr sz="1750" b="0">
                          <a:solidFill>
                            <a:srgbClr val="E9FAFC"/>
                          </a:solidFill>
                          <a:latin typeface="DejaVu Sans"/>
                        </a:defRPr>
                      </a:pPr>
                      <a:r>
                        <a:t>P2</a:t>
                      </a:r>
                    </a:p>
                  </a:txBody>
                  <a:tcPr marL="118872" marR="118872" marT="73152" marB="73152" anchor="ctr">
                    <a:solidFill>
                      <a:srgbClr val="10253A"/>
                    </a:solidFill>
                  </a:tcPr>
                </a:tc>
                <a:tc>
                  <a:txBody>
                    <a:bodyPr/>
                    <a:lstStyle/>
                    <a:p>
                      <a:pPr>
                        <a:lnSpc>
                          <a:spcPct val="108000"/>
                        </a:lnSpc>
                        <a:spcAft>
                          <a:spcPts val="0"/>
                        </a:spcAft>
                        <a:defRPr sz="1750" b="0">
                          <a:solidFill>
                            <a:srgbClr val="E9FAFC"/>
                          </a:solidFill>
                          <a:latin typeface="DejaVu Sans"/>
                        </a:defRPr>
                      </a:pPr>
                      <a:r>
                        <a:t>Independently observed state change</a:t>
                      </a:r>
                    </a:p>
                  </a:txBody>
                  <a:tcPr marL="118872" marR="118872" marT="73152" marB="73152" anchor="ctr">
                    <a:solidFill>
                      <a:srgbClr val="10253A"/>
                    </a:solidFill>
                  </a:tcPr>
                </a:tc>
                <a:tc>
                  <a:txBody>
                    <a:bodyPr/>
                    <a:lstStyle/>
                    <a:p>
                      <a:pPr>
                        <a:lnSpc>
                          <a:spcPct val="108000"/>
                        </a:lnSpc>
                        <a:spcAft>
                          <a:spcPts val="0"/>
                        </a:spcAft>
                        <a:defRPr sz="1750" b="0">
                          <a:solidFill>
                            <a:srgbClr val="E9FAFC"/>
                          </a:solidFill>
                          <a:latin typeface="DejaVu Sans"/>
                        </a:defRPr>
                      </a:pPr>
                      <a:r>
                        <a:t>Live artifact verified</a:t>
                      </a:r>
                    </a:p>
                  </a:txBody>
                  <a:tcPr marL="118872" marR="118872" marT="73152" marB="73152" anchor="ctr">
                    <a:solidFill>
                      <a:srgbClr val="10253A"/>
                    </a:solidFill>
                  </a:tcPr>
                </a:tc>
              </a:tr>
              <a:tr h="501396">
                <a:tc>
                  <a:txBody>
                    <a:bodyPr/>
                    <a:lstStyle/>
                    <a:p>
                      <a:pPr>
                        <a:lnSpc>
                          <a:spcPct val="108000"/>
                        </a:lnSpc>
                        <a:spcAft>
                          <a:spcPts val="0"/>
                        </a:spcAft>
                        <a:defRPr sz="1750" b="0">
                          <a:solidFill>
                            <a:srgbClr val="E9FAFC"/>
                          </a:solidFill>
                          <a:latin typeface="DejaVu Sans"/>
                        </a:defRPr>
                      </a:pPr>
                      <a:r>
                        <a:t>P3</a:t>
                      </a:r>
                    </a:p>
                  </a:txBody>
                  <a:tcPr marL="118872" marR="118872" marT="73152" marB="73152" anchor="ctr">
                    <a:solidFill>
                      <a:srgbClr val="081428"/>
                    </a:solidFill>
                  </a:tcPr>
                </a:tc>
                <a:tc>
                  <a:txBody>
                    <a:bodyPr/>
                    <a:lstStyle/>
                    <a:p>
                      <a:pPr>
                        <a:lnSpc>
                          <a:spcPct val="108000"/>
                        </a:lnSpc>
                        <a:spcAft>
                          <a:spcPts val="0"/>
                        </a:spcAft>
                        <a:defRPr sz="1750" b="0">
                          <a:solidFill>
                            <a:srgbClr val="E9FAFC"/>
                          </a:solidFill>
                          <a:latin typeface="DejaVu Sans"/>
                        </a:defRPr>
                      </a:pPr>
                      <a:r>
                        <a:t>Authentic downstream human outcome</a:t>
                      </a:r>
                    </a:p>
                  </a:txBody>
                  <a:tcPr marL="118872" marR="118872" marT="73152" marB="73152" anchor="ctr">
                    <a:solidFill>
                      <a:srgbClr val="081428"/>
                    </a:solidFill>
                  </a:tcPr>
                </a:tc>
                <a:tc>
                  <a:txBody>
                    <a:bodyPr/>
                    <a:lstStyle/>
                    <a:p>
                      <a:pPr>
                        <a:lnSpc>
                          <a:spcPct val="108000"/>
                        </a:lnSpc>
                        <a:spcAft>
                          <a:spcPts val="0"/>
                        </a:spcAft>
                        <a:defRPr sz="1750" b="0">
                          <a:solidFill>
                            <a:srgbClr val="E9FAFC"/>
                          </a:solidFill>
                          <a:latin typeface="DejaVu Sans"/>
                        </a:defRPr>
                      </a:pPr>
                      <a:r>
                        <a:t>NOT_MEASURED</a:t>
                      </a:r>
                    </a:p>
                  </a:txBody>
                  <a:tcPr marL="118872" marR="118872" marT="73152" marB="73152" anchor="ctr">
                    <a:solidFill>
                      <a:srgbClr val="081428"/>
                    </a:solidFill>
                  </a:tcPr>
                </a:tc>
              </a:tr>
              <a:tr h="501396">
                <a:tc>
                  <a:txBody>
                    <a:bodyPr/>
                    <a:lstStyle/>
                    <a:p>
                      <a:pPr>
                        <a:lnSpc>
                          <a:spcPct val="108000"/>
                        </a:lnSpc>
                        <a:spcAft>
                          <a:spcPts val="0"/>
                        </a:spcAft>
                        <a:defRPr sz="1750" b="0">
                          <a:solidFill>
                            <a:srgbClr val="E9FAFC"/>
                          </a:solidFill>
                          <a:latin typeface="DejaVu Sans"/>
                        </a:defRPr>
                      </a:pPr>
                      <a:r>
                        <a:t>P4</a:t>
                      </a:r>
                    </a:p>
                  </a:txBody>
                  <a:tcPr marL="118872" marR="118872" marT="73152" marB="73152" anchor="ctr">
                    <a:solidFill>
                      <a:srgbClr val="10253A"/>
                    </a:solidFill>
                  </a:tcPr>
                </a:tc>
                <a:tc>
                  <a:txBody>
                    <a:bodyPr/>
                    <a:lstStyle/>
                    <a:p>
                      <a:pPr>
                        <a:lnSpc>
                          <a:spcPct val="108000"/>
                        </a:lnSpc>
                        <a:spcAft>
                          <a:spcPts val="0"/>
                        </a:spcAft>
                        <a:defRPr sz="1750" b="0">
                          <a:solidFill>
                            <a:srgbClr val="E9FAFC"/>
                          </a:solidFill>
                          <a:latin typeface="DejaVu Sans"/>
                        </a:defRPr>
                      </a:pPr>
                      <a:r>
                        <a:t>Causal net improvement, costs and harms</a:t>
                      </a:r>
                    </a:p>
                  </a:txBody>
                  <a:tcPr marL="118872" marR="118872" marT="73152" marB="73152" anchor="ctr">
                    <a:solidFill>
                      <a:srgbClr val="10253A"/>
                    </a:solidFill>
                  </a:tcPr>
                </a:tc>
                <a:tc>
                  <a:txBody>
                    <a:bodyPr/>
                    <a:lstStyle/>
                    <a:p>
                      <a:pPr>
                        <a:lnSpc>
                          <a:spcPct val="108000"/>
                        </a:lnSpc>
                        <a:spcAft>
                          <a:spcPts val="0"/>
                        </a:spcAft>
                        <a:defRPr sz="1750" b="0">
                          <a:solidFill>
                            <a:srgbClr val="E9FAFC"/>
                          </a:solidFill>
                          <a:latin typeface="DejaVu Sans"/>
                        </a:defRPr>
                      </a:pPr>
                      <a:r>
                        <a:t>Not established</a:t>
                      </a:r>
                    </a:p>
                  </a:txBody>
                  <a:tcPr marL="118872" marR="118872" marT="73152" marB="73152" anchor="ctr">
                    <a:solidFill>
                      <a:srgbClr val="10253A"/>
                    </a:solidFill>
                  </a:tcPr>
                </a:tc>
              </a:tr>
              <a:tr h="501396">
                <a:tc>
                  <a:txBody>
                    <a:bodyPr/>
                    <a:lstStyle/>
                    <a:p>
                      <a:pPr>
                        <a:lnSpc>
                          <a:spcPct val="108000"/>
                        </a:lnSpc>
                        <a:spcAft>
                          <a:spcPts val="0"/>
                        </a:spcAft>
                        <a:defRPr sz="1750" b="0">
                          <a:solidFill>
                            <a:srgbClr val="E9FAFC"/>
                          </a:solidFill>
                          <a:latin typeface="DejaVu Sans"/>
                        </a:defRPr>
                      </a:pPr>
                      <a:r>
                        <a:t>P5</a:t>
                      </a:r>
                    </a:p>
                  </a:txBody>
                  <a:tcPr marL="118872" marR="118872" marT="73152" marB="73152" anchor="ctr">
                    <a:solidFill>
                      <a:srgbClr val="081428"/>
                    </a:solidFill>
                  </a:tcPr>
                </a:tc>
                <a:tc>
                  <a:txBody>
                    <a:bodyPr/>
                    <a:lstStyle/>
                    <a:p>
                      <a:pPr>
                        <a:lnSpc>
                          <a:spcPct val="108000"/>
                        </a:lnSpc>
                        <a:spcAft>
                          <a:spcPts val="0"/>
                        </a:spcAft>
                        <a:defRPr sz="1750" b="0">
                          <a:solidFill>
                            <a:srgbClr val="E9FAFC"/>
                          </a:solidFill>
                          <a:latin typeface="DejaVu Sans"/>
                        </a:defRPr>
                      </a:pPr>
                      <a:r>
                        <a:t>Replication across settings</a:t>
                      </a:r>
                    </a:p>
                  </a:txBody>
                  <a:tcPr marL="118872" marR="118872" marT="73152" marB="73152" anchor="ctr">
                    <a:solidFill>
                      <a:srgbClr val="081428"/>
                    </a:solidFill>
                  </a:tcPr>
                </a:tc>
                <a:tc>
                  <a:txBody>
                    <a:bodyPr/>
                    <a:lstStyle/>
                    <a:p>
                      <a:pPr>
                        <a:lnSpc>
                          <a:spcPct val="108000"/>
                        </a:lnSpc>
                        <a:spcAft>
                          <a:spcPts val="0"/>
                        </a:spcAft>
                        <a:defRPr sz="1750" b="0">
                          <a:solidFill>
                            <a:srgbClr val="E9FAFC"/>
                          </a:solidFill>
                          <a:latin typeface="DejaVu Sans"/>
                        </a:defRPr>
                      </a:pPr>
                      <a:r>
                        <a:t>Not established</a:t>
                      </a:r>
                    </a:p>
                  </a:txBody>
                  <a:tcPr marL="118872" marR="118872" marT="73152" marB="73152" anchor="ctr">
                    <a:solidFill>
                      <a:srgbClr val="081428"/>
                    </a:solidFill>
                  </a:tcPr>
                </a:tc>
              </a:tr>
            </a:tbl>
          </a:graphicData>
        </a:graphic>
      </p:graphicFrame>
      <p:sp>
        <p:nvSpPr>
          <p:cNvPr id="5" name="TextBox 4"/>
          <p:cNvSpPr txBox="1"/>
          <p:nvPr/>
        </p:nvSpPr>
        <p:spPr>
          <a:xfrm>
            <a:off x="704088" y="6400800"/>
            <a:ext cx="10287000" cy="283464"/>
          </a:xfrm>
          <a:prstGeom prst="rect">
            <a:avLst/>
          </a:prstGeom>
          <a:noFill/>
        </p:spPr>
        <p:txBody>
          <a:bodyPr wrap="square" lIns="0" rIns="0" tIns="22860" bIns="22860">
            <a:spAutoFit/>
          </a:bodyPr>
          <a:lstStyle/>
          <a:p>
            <a:pPr>
              <a:lnSpc>
                <a:spcPct val="108000"/>
              </a:lnSpc>
              <a:spcBef>
                <a:spcPts val="0"/>
              </a:spcBef>
              <a:spcAft>
                <a:spcPts val="400"/>
              </a:spcAft>
              <a:defRPr sz="950" b="0">
                <a:solidFill>
                  <a:srgbClr val="ABC1CE"/>
                </a:solidFill>
                <a:latin typeface="DejaVu Sans"/>
              </a:defRPr>
            </a:pPr>
            <a:r>
              <a:t>Sources: </a:t>
            </a:r>
            <a:r>
              <a:rPr>
                <a:solidFill>
                  <a:srgbClr val="ABC1CE"/>
                </a:solidFill>
                <a:hlinkClick r:id="rId3"/>
              </a:rPr>
              <a:t>Manager spec</a:t>
            </a:r>
            <a:r>
              <a:t> / </a:t>
            </a:r>
            <a:r>
              <a:rPr>
                <a:solidFill>
                  <a:srgbClr val="ABC1CE"/>
                </a:solidFill>
                <a:hlinkClick r:id="rId4"/>
              </a:rPr>
              <a:t>Release record</a:t>
            </a:r>
          </a:p>
        </p:txBody>
      </p:sp>
      <p:sp>
        <p:nvSpPr>
          <p:cNvPr id="6" name="TextBox 5"/>
          <p:cNvSpPr txBox="1"/>
          <p:nvPr/>
        </p:nvSpPr>
        <p:spPr>
          <a:xfrm>
            <a:off x="11064240" y="6382512"/>
            <a:ext cx="411480" cy="292608"/>
          </a:xfrm>
          <a:prstGeom prst="rect">
            <a:avLst/>
          </a:prstGeom>
          <a:noFill/>
        </p:spPr>
        <p:txBody>
          <a:bodyPr wrap="square" lIns="0" rIns="0" tIns="22860" bIns="22860">
            <a:spAutoFit/>
          </a:bodyPr>
          <a:lstStyle/>
          <a:p>
            <a:pPr>
              <a:lnSpc>
                <a:spcPct val="108000"/>
              </a:lnSpc>
              <a:spcBef>
                <a:spcPts val="0"/>
              </a:spcBef>
              <a:spcAft>
                <a:spcPts val="400"/>
              </a:spcAft>
              <a:defRPr sz="1100" b="1">
                <a:solidFill>
                  <a:srgbClr val="63E2BD"/>
                </a:solidFill>
                <a:latin typeface="DejaVu Sans"/>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1428"/>
        </a:solidFill>
        <a:effectLst/>
      </p:bgPr>
    </p:bg>
    <p:spTree>
      <p:nvGrpSpPr>
        <p:cNvPr id="1" name=""/>
        <p:cNvGrpSpPr/>
        <p:nvPr/>
      </p:nvGrpSpPr>
      <p:grpSpPr/>
      <p:sp>
        <p:nvSpPr>
          <p:cNvPr id="2" name="TextBox 1"/>
          <p:cNvSpPr txBox="1"/>
          <p:nvPr/>
        </p:nvSpPr>
        <p:spPr>
          <a:xfrm>
            <a:off x="685800" y="576072"/>
            <a:ext cx="10881360" cy="941832"/>
          </a:xfrm>
          <a:prstGeom prst="rect">
            <a:avLst/>
          </a:prstGeom>
          <a:noFill/>
        </p:spPr>
        <p:txBody>
          <a:bodyPr wrap="square" lIns="0" rIns="0" tIns="22860" bIns="22860">
            <a:spAutoFit/>
          </a:bodyPr>
          <a:lstStyle/>
          <a:p>
            <a:pPr>
              <a:lnSpc>
                <a:spcPct val="108000"/>
              </a:lnSpc>
              <a:spcBef>
                <a:spcPts val="0"/>
              </a:spcBef>
              <a:spcAft>
                <a:spcPts val="400"/>
              </a:spcAft>
              <a:defRPr sz="3100" b="1">
                <a:solidFill>
                  <a:srgbClr val="FCFDFE"/>
                </a:solidFill>
                <a:latin typeface="DejaVu Sans"/>
              </a:defRPr>
            </a:pPr>
            <a:r>
              <a:t>Open questions for a field evaluation</a:t>
            </a:r>
          </a:p>
        </p:txBody>
      </p:sp>
      <p:sp>
        <p:nvSpPr>
          <p:cNvPr id="3" name="TextBox 2"/>
          <p:cNvSpPr txBox="1"/>
          <p:nvPr/>
        </p:nvSpPr>
        <p:spPr>
          <a:xfrm>
            <a:off x="731520" y="2212848"/>
            <a:ext cx="4754880" cy="594360"/>
          </a:xfrm>
          <a:prstGeom prst="rect">
            <a:avLst/>
          </a:prstGeom>
          <a:noFill/>
        </p:spPr>
        <p:txBody>
          <a:bodyPr wrap="square" lIns="0" rIns="0" tIns="22860" bIns="22860">
            <a:spAutoFit/>
          </a:bodyPr>
          <a:lstStyle/>
          <a:p>
            <a:pPr>
              <a:lnSpc>
                <a:spcPct val="108000"/>
              </a:lnSpc>
              <a:spcBef>
                <a:spcPts val="0"/>
              </a:spcBef>
              <a:spcAft>
                <a:spcPts val="400"/>
              </a:spcAft>
              <a:defRPr sz="2300" b="1">
                <a:solidFill>
                  <a:srgbClr val="63E2BD"/>
                </a:solidFill>
                <a:latin typeface="DejaVu Sans"/>
              </a:defRPr>
            </a:pPr>
            <a:r>
              <a:t>Model validity</a:t>
            </a:r>
          </a:p>
        </p:txBody>
      </p:sp>
      <p:sp>
        <p:nvSpPr>
          <p:cNvPr id="4" name="TextBox 3"/>
          <p:cNvSpPr txBox="1"/>
          <p:nvPr/>
        </p:nvSpPr>
        <p:spPr>
          <a:xfrm>
            <a:off x="731520" y="2962656"/>
            <a:ext cx="4754880" cy="2487168"/>
          </a:xfrm>
          <a:prstGeom prst="rect">
            <a:avLst/>
          </a:prstGeom>
          <a:noFill/>
        </p:spPr>
        <p:txBody>
          <a:bodyPr wrap="square" lIns="0" rIns="0" tIns="22860" bIns="22860">
            <a:spAutoFit/>
          </a:bodyPr>
          <a:lstStyle/>
          <a:p>
            <a:pPr>
              <a:lnSpc>
                <a:spcPct val="108000"/>
              </a:lnSpc>
              <a:spcBef>
                <a:spcPts val="0"/>
              </a:spcBef>
              <a:spcAft>
                <a:spcPts val="400"/>
              </a:spcAft>
              <a:defRPr sz="2100" b="0">
                <a:solidFill>
                  <a:srgbClr val="E9FAFC"/>
                </a:solidFill>
                <a:latin typeface="DejaVu Sans"/>
              </a:defRPr>
            </a:pPr>
            <a:r>
              <a:t>Which held-out outcomes could reject a policy recommendation?</a:t>
            </a:r>
          </a:p>
          <a:p>
            <a:pPr>
              <a:lnSpc>
                <a:spcPct val="108000"/>
              </a:lnSpc>
              <a:spcBef>
                <a:spcPts val="0"/>
              </a:spcBef>
              <a:spcAft>
                <a:spcPts val="400"/>
              </a:spcAft>
              <a:defRPr sz="2100" b="0">
                <a:solidFill>
                  <a:srgbClr val="E9FAFC"/>
                </a:solidFill>
                <a:latin typeface="DejaVu Sans"/>
              </a:defRPr>
            </a:pPr>
          </a:p>
          <a:p>
            <a:pPr>
              <a:lnSpc>
                <a:spcPct val="108000"/>
              </a:lnSpc>
              <a:spcBef>
                <a:spcPts val="0"/>
              </a:spcBef>
              <a:spcAft>
                <a:spcPts val="400"/>
              </a:spcAft>
              <a:defRPr sz="2100" b="0">
                <a:solidFill>
                  <a:srgbClr val="E9FAFC"/>
                </a:solidFill>
                <a:latin typeface="DejaVu Sans"/>
              </a:defRPr>
            </a:pPr>
            <a:r>
              <a:t>How should uncertainty prevent an unsupported action?</a:t>
            </a:r>
          </a:p>
        </p:txBody>
      </p:sp>
      <p:sp>
        <p:nvSpPr>
          <p:cNvPr id="5" name="TextBox 4"/>
          <p:cNvSpPr txBox="1"/>
          <p:nvPr/>
        </p:nvSpPr>
        <p:spPr>
          <a:xfrm>
            <a:off x="6400800" y="2212848"/>
            <a:ext cx="4754880" cy="594360"/>
          </a:xfrm>
          <a:prstGeom prst="rect">
            <a:avLst/>
          </a:prstGeom>
          <a:noFill/>
        </p:spPr>
        <p:txBody>
          <a:bodyPr wrap="square" lIns="0" rIns="0" tIns="22860" bIns="22860">
            <a:spAutoFit/>
          </a:bodyPr>
          <a:lstStyle/>
          <a:p>
            <a:pPr>
              <a:lnSpc>
                <a:spcPct val="108000"/>
              </a:lnSpc>
              <a:spcBef>
                <a:spcPts val="0"/>
              </a:spcBef>
              <a:spcAft>
                <a:spcPts val="400"/>
              </a:spcAft>
              <a:defRPr sz="2300" b="1">
                <a:solidFill>
                  <a:srgbClr val="63E2BD"/>
                </a:solidFill>
                <a:latin typeface="DejaVu Sans"/>
              </a:defRPr>
            </a:pPr>
            <a:r>
              <a:t>Human outcomes</a:t>
            </a:r>
          </a:p>
        </p:txBody>
      </p:sp>
      <p:sp>
        <p:nvSpPr>
          <p:cNvPr id="6" name="TextBox 5"/>
          <p:cNvSpPr txBox="1"/>
          <p:nvPr/>
        </p:nvSpPr>
        <p:spPr>
          <a:xfrm>
            <a:off x="6400800" y="2962656"/>
            <a:ext cx="4754880" cy="2487168"/>
          </a:xfrm>
          <a:prstGeom prst="rect">
            <a:avLst/>
          </a:prstGeom>
          <a:noFill/>
        </p:spPr>
        <p:txBody>
          <a:bodyPr wrap="square" lIns="0" rIns="0" tIns="22860" bIns="22860">
            <a:spAutoFit/>
          </a:bodyPr>
          <a:lstStyle/>
          <a:p>
            <a:pPr>
              <a:lnSpc>
                <a:spcPct val="108000"/>
              </a:lnSpc>
              <a:spcBef>
                <a:spcPts val="0"/>
              </a:spcBef>
              <a:spcAft>
                <a:spcPts val="400"/>
              </a:spcAft>
              <a:defRPr sz="2100" b="0">
                <a:solidFill>
                  <a:srgbClr val="E9FAFC"/>
                </a:solidFill>
                <a:latin typeface="DejaVu Sans"/>
              </a:defRPr>
            </a:pPr>
            <a:r>
              <a:t>Who can independently observe the support journey?</a:t>
            </a:r>
          </a:p>
          <a:p>
            <a:pPr>
              <a:lnSpc>
                <a:spcPct val="108000"/>
              </a:lnSpc>
              <a:spcBef>
                <a:spcPts val="0"/>
              </a:spcBef>
              <a:spcAft>
                <a:spcPts val="400"/>
              </a:spcAft>
              <a:defRPr sz="2100" b="0">
                <a:solidFill>
                  <a:srgbClr val="E9FAFC"/>
                </a:solidFill>
                <a:latin typeface="DejaVu Sans"/>
              </a:defRPr>
            </a:pPr>
          </a:p>
          <a:p>
            <a:pPr>
              <a:lnSpc>
                <a:spcPct val="108000"/>
              </a:lnSpc>
              <a:spcBef>
                <a:spcPts val="0"/>
              </a:spcBef>
              <a:spcAft>
                <a:spcPts val="400"/>
              </a:spcAft>
              <a:defRPr sz="2100" b="0">
                <a:solidFill>
                  <a:srgbClr val="E9FAFC"/>
                </a:solidFill>
                <a:latin typeface="DejaVu Sans"/>
              </a:defRPr>
            </a:pPr>
            <a:r>
              <a:t>How will the study report missing data, harms and unequal effects?</a:t>
            </a:r>
          </a:p>
        </p:txBody>
      </p:sp>
      <p:sp>
        <p:nvSpPr>
          <p:cNvPr id="7" name="TextBox 6"/>
          <p:cNvSpPr txBox="1"/>
          <p:nvPr/>
        </p:nvSpPr>
        <p:spPr>
          <a:xfrm>
            <a:off x="731520" y="5742432"/>
            <a:ext cx="10789920" cy="502920"/>
          </a:xfrm>
          <a:prstGeom prst="rect">
            <a:avLst/>
          </a:prstGeom>
          <a:noFill/>
        </p:spPr>
        <p:txBody>
          <a:bodyPr wrap="square" lIns="0" rIns="0" tIns="22860" bIns="22860">
            <a:spAutoFit/>
          </a:bodyPr>
          <a:lstStyle/>
          <a:p>
            <a:pPr>
              <a:lnSpc>
                <a:spcPct val="108000"/>
              </a:lnSpc>
              <a:spcBef>
                <a:spcPts val="0"/>
              </a:spcBef>
              <a:spcAft>
                <a:spcPts val="400"/>
              </a:spcAft>
              <a:defRPr sz="1750" b="0">
                <a:solidFill>
                  <a:srgbClr val="FEB763"/>
                </a:solidFill>
                <a:latin typeface="DejaVu Sans"/>
              </a:defRPr>
            </a:pPr>
            <a:r>
              <a:t>A partner and a prospective protocol are still required.</a:t>
            </a:r>
          </a:p>
        </p:txBody>
      </p:sp>
      <p:sp>
        <p:nvSpPr>
          <p:cNvPr id="8" name="TextBox 7"/>
          <p:cNvSpPr txBox="1"/>
          <p:nvPr/>
        </p:nvSpPr>
        <p:spPr>
          <a:xfrm>
            <a:off x="704088" y="6400800"/>
            <a:ext cx="10287000" cy="283464"/>
          </a:xfrm>
          <a:prstGeom prst="rect">
            <a:avLst/>
          </a:prstGeom>
          <a:noFill/>
        </p:spPr>
        <p:txBody>
          <a:bodyPr wrap="square" lIns="0" rIns="0" tIns="22860" bIns="22860">
            <a:spAutoFit/>
          </a:bodyPr>
          <a:lstStyle/>
          <a:p>
            <a:pPr>
              <a:lnSpc>
                <a:spcPct val="108000"/>
              </a:lnSpc>
              <a:spcBef>
                <a:spcPts val="0"/>
              </a:spcBef>
              <a:spcAft>
                <a:spcPts val="400"/>
              </a:spcAft>
              <a:defRPr sz="950" b="0">
                <a:solidFill>
                  <a:srgbClr val="ABC1CE"/>
                </a:solidFill>
                <a:latin typeface="DejaVu Sans"/>
              </a:defRPr>
            </a:pPr>
            <a:r>
              <a:t>Sources: </a:t>
            </a:r>
            <a:r>
              <a:rPr>
                <a:solidFill>
                  <a:srgbClr val="ABC1CE"/>
                </a:solidFill>
              </a:rPr>
              <a:t>Provisional wedge</a:t>
            </a:r>
            <a:r>
              <a:t> / </a:t>
            </a:r>
            <a:r>
              <a:rPr>
                <a:solidFill>
                  <a:srgbClr val="ABC1CE"/>
                </a:solidFill>
              </a:rPr>
              <a:t>Measurement map</a:t>
            </a:r>
            <a:r>
              <a:t> / </a:t>
            </a:r>
            <a:r>
              <a:rPr>
                <a:solidFill>
                  <a:srgbClr val="ABC1CE"/>
                </a:solidFill>
                <a:hlinkClick r:id="rId3"/>
              </a:rPr>
              <a:t>Simile official site</a:t>
            </a:r>
          </a:p>
        </p:txBody>
      </p:sp>
      <p:sp>
        <p:nvSpPr>
          <p:cNvPr id="9" name="TextBox 8"/>
          <p:cNvSpPr txBox="1"/>
          <p:nvPr/>
        </p:nvSpPr>
        <p:spPr>
          <a:xfrm>
            <a:off x="11064240" y="6382512"/>
            <a:ext cx="411480" cy="292608"/>
          </a:xfrm>
          <a:prstGeom prst="rect">
            <a:avLst/>
          </a:prstGeom>
          <a:noFill/>
        </p:spPr>
        <p:txBody>
          <a:bodyPr wrap="square" lIns="0" rIns="0" tIns="22860" bIns="22860">
            <a:spAutoFit/>
          </a:bodyPr>
          <a:lstStyle/>
          <a:p>
            <a:pPr>
              <a:lnSpc>
                <a:spcPct val="108000"/>
              </a:lnSpc>
              <a:spcBef>
                <a:spcPts val="0"/>
              </a:spcBef>
              <a:spcAft>
                <a:spcPts val="400"/>
              </a:spcAft>
              <a:defRPr sz="1100" b="1">
                <a:solidFill>
                  <a:srgbClr val="63E2BD"/>
                </a:solidFill>
                <a:latin typeface="DejaVu Sans"/>
              </a:defRPr>
            </a:pPr>
            <a:r>
              <a:t>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ABC1CE"/>
      </a:hlink>
      <a:folHlink>
        <a:srgbClr val="63E2B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Manager completion: IACS</dc:title>
  <dc:subject>English slides and Japanese notes with primary sources</dc:subject>
  <dc:creator>Manager project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