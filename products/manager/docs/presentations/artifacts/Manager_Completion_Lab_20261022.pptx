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研究室向けの中心的な問いは、権限のある実行と、その後に人へ生じた結果を、どのように別々に検証できるかです。Managerは研究段階にあります。公開成果物の配信は確認されていますが、人の生活への改善効果は未測定です。本資料に発表予定日は記載していません。ファイル名の日付は資料の作成日です。</a:t>
            </a:r>
          </a:p>
          <a:p/>
          <a:p>
            <a:r>
              <a:t>CLAIM TYPE</a:t>
            </a:r>
          </a:p>
          <a:p>
            <a:r>
              <a:t>RESEARCH_QUESTION</a:t>
            </a:r>
          </a:p>
          <a:p/>
          <a:p>
            <a:r>
              <a:t>PRIMARY SOURCES</a:t>
            </a:r>
          </a:p>
          <a:p>
            <a:r>
              <a:t>Manager evidence definitions</a:t>
            </a:r>
          </a:p>
          <a:p>
            <a:r>
              <a:t>https://github.com/Daisuke134/life-manager/blob/ce75c0add1d9cec7de5ddcb9a9347dbd0c1632e5/products/manager/docs/MANAGER_PRODUCT_SPEC.md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P0からP5は一般的な能力ランキングではなく、Managerの主張と証拠の対応です。P1は実行の受領証、P2は独立に確認した状態変化です。P3は実際の人の結果、P4は比較対象と費用・害を含む因果的な純改善、P5は異なる設定での再現です。P2の公開成果物からP3やP4へ飛躍してはいけません。</a:t>
            </a:r>
          </a:p>
          <a:p/>
          <a:p>
            <a:r>
              <a:t>CLAIM TYPE</a:t>
            </a:r>
          </a:p>
          <a:p>
            <a:r>
              <a:t>DEFINITION</a:t>
            </a:r>
          </a:p>
          <a:p/>
          <a:p>
            <a:r>
              <a:t>PRIMARY SOURCES</a:t>
            </a:r>
          </a:p>
          <a:p>
            <a:r>
              <a:t>Manager evidence definitions</a:t>
            </a:r>
          </a:p>
          <a:p>
            <a:r>
              <a:t>https://github.com/Daisuke134/life-manager/blob/ce75c0add1d9cec7de5ddcb9a9347dbd0c1632e5/products/manager/docs/MANAGER_PRODUCT_SPEC.md</a:t>
            </a:r>
          </a:p>
          <a:p/>
          <a:p>
            <a:r>
              <a:t>Dated digital release evidence</a:t>
            </a:r>
          </a:p>
          <a:p>
            <a:r>
              <a:t>https://github.com/Daisuke134/life-manager/blob/ce75c0add1d9cec7de5ddcb9a9347dbd0c1632e5/products/manager/docs/verification/PHASE06_DIGITAL_SERVICE_EXECUTION_20261021.md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この数字は、2026年10月21日14時36分UTCの既存の公開検証記録から取っています。6ページは一つの公開成果物を構成するHTMLであり、6回の人への介入ではありません。16件はブラウザの検査であり、16人の利用者ではありません。配信の確認はP2 artifact onlyです。公的支援に到達した人数や、精神・身体・経済面の改善効果は未測定のままです。後続のコード変更や新しいテスト総数を、この固定された記録に混ぜません。</a:t>
            </a:r>
          </a:p>
          <a:p/>
          <a:p>
            <a:r>
              <a:t>CLAIM TYPE</a:t>
            </a:r>
          </a:p>
          <a:p>
            <a:r>
              <a:t>OBSERVATION</a:t>
            </a:r>
          </a:p>
          <a:p/>
          <a:p>
            <a:r>
              <a:t>PRIMARY SOURCES</a:t>
            </a:r>
          </a:p>
          <a:p>
            <a:r>
              <a:t>Dated digital release evidence</a:t>
            </a:r>
          </a:p>
          <a:p>
            <a:r>
              <a:t>https://github.com/Daisuke134/life-manager/blob/ce75c0add1d9cec7de5ddcb9a9347dbd0c1632e5/products/manager/docs/verification/PHASE06_DIGITAL_SERVICE_EXECUTION_20261021.md</a:t>
            </a:r>
          </a:p>
          <a:p/>
          <a:p>
            <a:r>
              <a:t>Source/build/readback run</a:t>
            </a:r>
          </a:p>
          <a:p>
            <a:r>
              <a:t>https://github.com/Daisuke134/life-manager/actions/runs/39617848783</a:t>
            </a:r>
          </a:p>
          <a:p/>
          <a:p>
            <a:r>
              <a:t>Pages deployment run</a:t>
            </a:r>
          </a:p>
          <a:p>
            <a:r>
              <a:t>https://github.com/Daisuke134/life-manager/actions/runs/39618047098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ここでは各研究の成果をManagerの成果として移していません。HeartStepsとJITAIからは、意思決定の機会や利用可能性を定義する必要を学びます。メガスタディは共通条件下の比較と持続性を示す設計例です。現金給付研究では実際の受給者の複数の結果を区別しています。Generative Agentsのシミュレーションは、人の因果的な福祉改善をそのまま証明しません。右列は原著者の発言ではなく、Manager側の研究上の問いです。</a:t>
            </a:r>
          </a:p>
          <a:p/>
          <a:p>
            <a:r>
              <a:t>CLAIM TYPE</a:t>
            </a:r>
          </a:p>
          <a:p>
            <a:r>
              <a:t>LITERATURE_AND_INFERENCE</a:t>
            </a:r>
          </a:p>
          <a:p/>
          <a:p>
            <a:r>
              <a:t>PRIMARY SOURCES</a:t>
            </a:r>
          </a:p>
          <a:p>
            <a:r>
              <a:t>Klasnja et al. Efficacy of Contextually Tailored Suggestions for Physical Activity</a:t>
            </a:r>
          </a:p>
          <a:p>
            <a:r>
              <a:t>https://pmc.ncbi.nlm.nih.gov/articles/PMC6401341/</a:t>
            </a:r>
          </a:p>
          <a:p/>
          <a:p>
            <a:r>
              <a:t>Nahum-Shani et al. JITAI key components and design principles</a:t>
            </a:r>
          </a:p>
          <a:p>
            <a:r>
              <a:t>https://pmc.ncbi.nlm.nih.gov/articles/PMC5364076/</a:t>
            </a:r>
          </a:p>
          <a:p/>
          <a:p>
            <a:r>
              <a:t>Milkman et al. Megastudies improve the impact of applied behavioural science</a:t>
            </a:r>
          </a:p>
          <a:p>
            <a:r>
              <a:t>https://www.nature.com/articles/s41586-021-04128-4</a:t>
            </a:r>
          </a:p>
          <a:p/>
          <a:p>
            <a:r>
              <a:t>Haushofer and Shapiro: Short-Term Impact of Unconditional Cash Transfers</a:t>
            </a:r>
          </a:p>
          <a:p>
            <a:r>
              <a:t>https://pmc.ncbi.nlm.nih.gov/articles/PMC7575201/</a:t>
            </a:r>
          </a:p>
          <a:p/>
          <a:p>
            <a:r>
              <a:t>Park et al. Generative Agents: Interactive Simulacra of Human Behavior</a:t>
            </a:r>
          </a:p>
          <a:p>
            <a:r>
              <a:t>https://dl.acm.org/doi/10.1145/3586183.3606763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最初の候補は経済的支援への公式情報を探す経路です。ただし、U002の5件の同意済み面談は揃っておらず、U003の選定は暫定です。ブラウザの検査と人が実際に操作する試験は単位が違います。公式ページへの到達、相談や申請の完了、受給、人の生活の改善を分けて測ります。対象集団、割付方法、サンプルサイズ、測定期間はまだ確定した試験計画ではありません。</a:t>
            </a:r>
          </a:p>
          <a:p/>
          <a:p>
            <a:r>
              <a:t>CLAIM TYPE</a:t>
            </a:r>
          </a:p>
          <a:p>
            <a:r>
              <a:t>PROPOSED_DESIGN</a:t>
            </a:r>
          </a:p>
          <a:p/>
          <a:p>
            <a:r>
              <a:t>PRIMARY SOURCES</a:t>
            </a:r>
          </a:p>
          <a:p>
            <a:r>
              <a:t>GOV.UK Measuring completion rate</a:t>
            </a:r>
          </a:p>
          <a:p>
            <a:r>
              <a:t>https://www.gov.uk/service-manual/measuring-success/measuring-completion-rate</a:t>
            </a:r>
          </a:p>
          <a:p/>
          <a:p>
            <a:r>
              <a:t>Provisional first wedge</a:t>
            </a:r>
          </a:p>
          <a:p>
            <a:r>
              <a:t>products/manager/docs/product/FIRST_WEDGE.md</a:t>
            </a:r>
          </a:p>
          <a:p/>
          <a:p>
            <a:r>
              <a:t>Manager evidence definitions</a:t>
            </a:r>
          </a:p>
          <a:p>
            <a:r>
              <a:t>https://github.com/Daisuke134/life-manager/blob/ce75c0add1d9cec7de5ddcb9a9347dbd0c1632e5/products/manager/docs/MANAGER_PRODUCT_SPEC.md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孤独感、肯定的な精神的ウェルビーイング、生活機能、経済的ウェルビーイングは異なる構成概念です。WHO-5は5項目で過去2週間を対象とし、素点0〜25を4倍した0〜100表示があります。孤独感の3項目尺度は3〜9で方向が逆です。WHODASはバージョンと採点法を、CFPBは年齢帯と回答方法による変換を区別します。これらを合計して普遍的な苦しみの点数にはしません。実装前には権利と対象集団における妥当性を確認します。</a:t>
            </a:r>
          </a:p>
          <a:p/>
          <a:p>
            <a:r>
              <a:t>CLAIM TYPE</a:t>
            </a:r>
          </a:p>
          <a:p>
            <a:r>
              <a:t>MEASUREMENT_DEFINITION</a:t>
            </a:r>
          </a:p>
          <a:p/>
          <a:p>
            <a:r>
              <a:t>PRIMARY SOURCES</a:t>
            </a:r>
          </a:p>
          <a:p>
            <a:r>
              <a:t>ONS Measuring loneliness: guidance for use of national indicators</a:t>
            </a:r>
          </a:p>
          <a:p>
            <a:r>
              <a:t>https://www.ons.gov.uk/peoplepopulationandcommunity/wellbeing/methodologies/measuringlonelinessguidanceforuseofthenationalindicatorsonsurveys</a:t>
            </a:r>
          </a:p>
          <a:p/>
          <a:p>
            <a:r>
              <a:t>WHO-5 English instrument and rights (2024)</a:t>
            </a:r>
          </a:p>
          <a:p>
            <a:r>
              <a:t>https://cdn.who.int/media/docs/default-source/mental-health/who-5_english-original4da539d6ed4b49389e3afe47cda2326a.pdf?sfvrsn=ed43f352_11</a:t>
            </a:r>
          </a:p>
          <a:p/>
          <a:p>
            <a:r>
              <a:t>WHO Disability Assessment Schedule 2.0</a:t>
            </a:r>
          </a:p>
          <a:p>
            <a:r>
              <a:t>https://www.who.int/classifications/international-classification-of-functioning-disability-and-health/who-disability-assessment-schedule</a:t>
            </a:r>
          </a:p>
          <a:p/>
          <a:p>
            <a:r>
              <a:t>CFPB full financial well-being scorecard</a:t>
            </a:r>
          </a:p>
          <a:p>
            <a:r>
              <a:t>https://files.consumerfinance.gov/f/documents/bcfp_fin-well-being_full-scorecard.pdf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このデモは、実際の公開HTTPSページを読み戻し、同じ内容を再公開する候補に対してNO_ACTIONを選んだ記録です。JSONのcaptured_atは2026-10-21T16:47:27.352145+00:00です。6ページの観測と外部書き込み0件はこのデモの事実です。新しい配信、資金移動、現地介入、人の結果測定を行ったという意味ではありません。トレース中のローカル権限チェックはP0で、外部プラットフォームの実行権限が必要であることも記録されています。動画とJSONを併せて参照してください。</a:t>
            </a:r>
          </a:p>
          <a:p/>
          <a:p>
            <a:r>
              <a:t>CLAIM TYPE</a:t>
            </a:r>
          </a:p>
          <a:p>
            <a:r>
              <a:t>OBSERVATION</a:t>
            </a:r>
          </a:p>
          <a:p/>
          <a:p>
            <a:r>
              <a:t>PRIMARY SOURCES</a:t>
            </a:r>
          </a:p>
          <a:p>
            <a:r>
              <a:t>Captured NO_ACTION decision</a:t>
            </a:r>
          </a:p>
          <a:p>
            <a:r>
              <a:t>products/manager/docs/demos/manager-public-no-action-20261022.json</a:t>
            </a:r>
          </a:p>
          <a:p/>
          <a:p>
            <a:r>
              <a:t>Recorded public-readback demo</a:t>
            </a:r>
          </a:p>
          <a:p>
            <a:r>
              <a:t>products/manager/docs/demos/manager-public-no-action-20261022.mp4</a:t>
            </a:r>
          </a:p>
          <a:p/>
          <a:p>
            <a:r>
              <a:t>Live support-navigation prototype</a:t>
            </a:r>
          </a:p>
          <a:p>
            <a:r>
              <a:t>https://daisuke134.github.io/life-manager/manager-support/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日本語補助ノート</a:t>
            </a:r>
          </a:p>
          <a:p/>
          <a:p>
            <a:r>
              <a:t>相談したいのは、一般的なAIの印象ではなく、特定の支援経路と測定可能な結果です。面談は問題の発見に役立ちますが、因果効果の証明にはなりません。研究の次の段階では、適切な比較、脱落と欠測、利用者への負担、無効や悪化を含む結果、実際の費用を事前に定義する必要があります。現時点では研究協力の確約も参加者もありません。</a:t>
            </a:r>
          </a:p>
          <a:p/>
          <a:p>
            <a:r>
              <a:t>CLAIM TYPE</a:t>
            </a:r>
          </a:p>
          <a:p>
            <a:r>
              <a:t>RESEARCH_QUESTION</a:t>
            </a:r>
          </a:p>
          <a:p/>
          <a:p>
            <a:r>
              <a:t>PRIMARY SOURCES</a:t>
            </a:r>
          </a:p>
          <a:p>
            <a:r>
              <a:t>Provisional first wedge</a:t>
            </a:r>
          </a:p>
          <a:p>
            <a:r>
              <a:t>products/manager/docs/product/FIRST_WEDGE.md</a:t>
            </a:r>
          </a:p>
          <a:p/>
          <a:p>
            <a:r>
              <a:t>Outcome measurement map</a:t>
            </a:r>
          </a:p>
          <a:p>
            <a:r>
              <a:t>products/manager/docs/research/MENTAL_PUBLIC_AGGREGATE_MAP.md</a:t>
            </a:r>
          </a:p>
          <a:p/>
          <a:p>
            <a:r>
              <a:t>Manager evidence definitions</a:t>
            </a:r>
          </a:p>
          <a:p>
            <a:r>
              <a:t>https://github.com/Daisuke134/life-manager/blob/ce75c0add1d9cec7de5ddcb9a9347dbd0c1632e5/products/manager/docs/MANAGER_PRODUCT_SPEC.md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Daisuke134/life-manager/blob/ce75c0add1d9cec7de5ddcb9a9347dbd0c1632e5/products/manager/docs/MANAGER_PRODUCT_SPEC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Daisuke134/life-manager/blob/ce75c0add1d9cec7de5ddcb9a9347dbd0c1632e5/products/manager/docs/MANAGER_PRODUCT_SPEC.md" TargetMode="External"/><Relationship Id="rId4" Type="http://schemas.openxmlformats.org/officeDocument/2006/relationships/hyperlink" Target="https://github.com/Daisuke134/life-manager/blob/ce75c0add1d9cec7de5ddcb9a9347dbd0c1632e5/products/manager/docs/verification/PHASE06_DIGITAL_SERVICE_EXECUTION_20261021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aisuke134/life-manager/blob/ce75c0add1d9cec7de5ddcb9a9347dbd0c1632e5/products/manager/docs/verification/PHASE06_DIGITAL_SERVICE_EXECUTION_20261021.md" TargetMode="External"/><Relationship Id="rId4" Type="http://schemas.openxmlformats.org/officeDocument/2006/relationships/hyperlink" Target="https://github.com/Daisuke134/life-manager/actions/runs/39617848783" TargetMode="External"/><Relationship Id="rId5" Type="http://schemas.openxmlformats.org/officeDocument/2006/relationships/hyperlink" Target="https://github.com/Daisuke134/life-manager/actions/runs/3961804709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mc.ncbi.nlm.nih.gov/articles/PMC6401341/" TargetMode="External"/><Relationship Id="rId4" Type="http://schemas.openxmlformats.org/officeDocument/2006/relationships/hyperlink" Target="https://pmc.ncbi.nlm.nih.gov/articles/PMC5364076/" TargetMode="External"/><Relationship Id="rId5" Type="http://schemas.openxmlformats.org/officeDocument/2006/relationships/hyperlink" Target="https://www.nature.com/articles/s41586-021-04128-4" TargetMode="External"/><Relationship Id="rId6" Type="http://schemas.openxmlformats.org/officeDocument/2006/relationships/hyperlink" Target="https://pmc.ncbi.nlm.nih.gov/articles/PMC7575201/" TargetMode="External"/><Relationship Id="rId7" Type="http://schemas.openxmlformats.org/officeDocument/2006/relationships/hyperlink" Target="https://dl.acm.org/doi/10.1145/3586183.3606763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gov.uk/service-manual/measuring-success/measuring-completion-rate" TargetMode="External"/><Relationship Id="rId4" Type="http://schemas.openxmlformats.org/officeDocument/2006/relationships/hyperlink" Target="https://github.com/Daisuke134/life-manager/blob/ce75c0add1d9cec7de5ddcb9a9347dbd0c1632e5/products/manager/docs/MANAGER_PRODUCT_SPEC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ons.gov.uk/peoplepopulationandcommunity/wellbeing/methodologies/measuringlonelinessguidanceforuseofthenationalindicatorsonsurveys" TargetMode="External"/><Relationship Id="rId4" Type="http://schemas.openxmlformats.org/officeDocument/2006/relationships/hyperlink" Target="https://cdn.who.int/media/docs/default-source/mental-health/who-5_english-original4da539d6ed4b49389e3afe47cda2326a.pdf?sfvrsn=ed43f352_11" TargetMode="External"/><Relationship Id="rId5" Type="http://schemas.openxmlformats.org/officeDocument/2006/relationships/hyperlink" Target="https://www.who.int/classifications/international-classification-of-functioning-disability-and-health/who-disability-assessment-schedule" TargetMode="External"/><Relationship Id="rId6" Type="http://schemas.openxmlformats.org/officeDocument/2006/relationships/hyperlink" Target="https://files.consumerfinance.gov/f/documents/bcfp_fin-well-being_full-scorecard.pd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aisuke134.github.io/life-manager/manager-support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Daisuke134/life-manager/blob/ce75c0add1d9cec7de5ddcb9a9347dbd0c1632e5/products/manager/docs/MANAGER_PRODUCT_SPEC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758952"/>
            <a:ext cx="1074420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63E2BD"/>
                </a:solidFill>
                <a:latin typeface="DejaVu Sans"/>
              </a:defRPr>
            </a:pPr>
            <a:r>
              <a:t>Manager research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92807"/>
            <a:ext cx="10789920" cy="192024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4600" b="1">
                <a:solidFill>
                  <a:srgbClr val="FCFDFE"/>
                </a:solidFill>
                <a:latin typeface="DejaVu Sans"/>
              </a:defRPr>
            </a:pPr>
            <a:r>
              <a:t>Autonomous action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4600" b="1">
                <a:solidFill>
                  <a:srgbClr val="FCFDFE"/>
                </a:solidFill>
                <a:latin typeface="DejaVu Sans"/>
              </a:defRPr>
            </a:pPr>
            <a:r>
              <a:t>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4663440"/>
            <a:ext cx="10515600" cy="91440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E9FAFC"/>
                </a:solidFill>
                <a:latin typeface="DejaVu Sans"/>
              </a:defRPr>
            </a:pPr>
            <a:r>
              <a:t>How can an authorized action produce a measurable human benefit?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Manager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Evidence has distinct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Each claim requires its own observation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2084831"/>
          <a:ext cx="1083564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0"/>
                <a:gridCol w="352044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Level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Meaning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Current interpretation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P0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Simulation or model/task score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Research evidence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P1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Authentic execution receipt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Action evidence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P2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Independently observed state change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Live artifact verified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P3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Authentic downstream human outcome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NOT_MEASURED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P4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Causal net improvement, costs and harms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Not established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P5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Replication across settings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Not established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Manager spec</a:t>
            </a:r>
            <a:r>
              <a:t> / </a:t>
            </a:r>
            <a:r>
              <a:rPr>
                <a:solidFill>
                  <a:srgbClr val="ABC1CE"/>
                </a:solidFill>
                <a:hlinkClick r:id="rId4"/>
              </a:rPr>
              <a:t>Release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public artifact is verifiable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Recorded verification: 21 October 2026, 14:36 UTC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4754880" cy="114300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7400" b="1">
                <a:solidFill>
                  <a:srgbClr val="63E2BD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85032"/>
            <a:ext cx="4800600" cy="75895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FCFDFE"/>
                </a:solidFill>
                <a:latin typeface="DejaVu Sans"/>
              </a:defRPr>
            </a:pPr>
            <a:r>
              <a:t>HTML pages 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90872"/>
            <a:ext cx="480060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One public product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4754880" cy="114300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7400" b="1">
                <a:solidFill>
                  <a:srgbClr val="63E2BD"/>
                </a:solidFill>
                <a:latin typeface="DejaVu San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85032"/>
            <a:ext cx="4800600" cy="75895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FCFDFE"/>
                </a:solidFill>
                <a:latin typeface="DejaVu Sans"/>
              </a:defRPr>
            </a:pPr>
            <a:r>
              <a:t>Public browser checks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90872"/>
            <a:ext cx="480060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Software scenarios, not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P2 artifact only. Human outcomes remain NOT_MEASURED.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Release record</a:t>
            </a:r>
            <a:r>
              <a:t> / </a:t>
            </a:r>
            <a:r>
              <a:rPr>
                <a:solidFill>
                  <a:srgbClr val="ABC1CE"/>
                </a:solidFill>
                <a:hlinkClick r:id="rId4"/>
              </a:rPr>
              <a:t>Readback CI</a:t>
            </a:r>
            <a:r>
              <a:t> / </a:t>
            </a:r>
            <a:r>
              <a:rPr>
                <a:solidFill>
                  <a:srgbClr val="ABC1CE"/>
                </a:solidFill>
                <a:hlinkClick r:id="rId5"/>
              </a:rPr>
              <a:t>Pages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Prior work informs the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Original studies suggest different design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2084831"/>
          <a:ext cx="10835640" cy="333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886200"/>
                <a:gridCol w="411480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Research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What it contributes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Question for Manager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HeartSteps / JITAI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Repeated decisions and availability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Does the action reach a valid opportunity?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Megastudies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Comparable arms and follow-up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Does the change persist?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Cash-transfer experiments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Separate recipient outcomes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Who benefits after costs and spillovers?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Generative Agents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Simulated behavior and interaction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What held-out result could falsify a policy?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HeartSteps</a:t>
            </a:r>
            <a:r>
              <a:t> / </a:t>
            </a:r>
            <a:r>
              <a:rPr>
                <a:solidFill>
                  <a:srgbClr val="ABC1CE"/>
                </a:solidFill>
                <a:hlinkClick r:id="rId4"/>
              </a:rPr>
              <a:t>JITAI</a:t>
            </a:r>
            <a:r>
              <a:t> / </a:t>
            </a:r>
            <a:r>
              <a:rPr>
                <a:solidFill>
                  <a:srgbClr val="ABC1CE"/>
                </a:solidFill>
                <a:hlinkClick r:id="rId5"/>
              </a:rPr>
              <a:t>Milkman et al. 2021</a:t>
            </a:r>
            <a:r>
              <a:t> / </a:t>
            </a:r>
            <a:r>
              <a:rPr>
                <a:solidFill>
                  <a:srgbClr val="ABC1CE"/>
                </a:solidFill>
                <a:hlinkClick r:id="rId6"/>
              </a:rPr>
              <a:t>Haushofer &amp; Shapiro 2016</a:t>
            </a:r>
            <a:r>
              <a:t> / </a:t>
            </a:r>
            <a:r>
              <a:rPr>
                <a:solidFill>
                  <a:srgbClr val="ABC1CE"/>
                </a:solidFill>
                <a:hlinkClick r:id="rId7"/>
              </a:rPr>
              <a:t>Park et al.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A support journey needs separate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Prospective definitions for the provisional finance-navigation wedge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2084831"/>
          <a:ext cx="10835640" cy="333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480060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Endpoint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Unit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Evidence still needed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Correct official destination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Browser or participant task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State which unit was tested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Completed support step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Consented support journey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Independent observation and follow-up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Recipient gain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Original outcome measure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Valid measurement and harms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Causal net benefit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Predeclared comparison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Assignment, uncertainty and total cost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A link click cannot establish support receipt.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GOV.UK completion guidance</a:t>
            </a:r>
            <a:r>
              <a:t> / </a:t>
            </a:r>
            <a:r>
              <a:rPr>
                <a:solidFill>
                  <a:srgbClr val="ABC1CE"/>
                </a:solidFill>
              </a:rPr>
              <a:t>Provisional wedge</a:t>
            </a:r>
            <a:r>
              <a:t> / </a:t>
            </a:r>
            <a:r>
              <a:rPr>
                <a:solidFill>
                  <a:srgbClr val="ABC1CE"/>
                </a:solidFill>
                <a:hlinkClick r:id="rId4"/>
              </a:rPr>
              <a:t>Manager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Outcomes retain their original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A measurement choice needs a version and a population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2084831"/>
          <a:ext cx="10835640" cy="333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60520"/>
                <a:gridCol w="411480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Construct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Unit and direction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Limit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Loneliness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Three-item score 3–9, higher worse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 universal diagnostic threshold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Mental wellbeing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WHO-5 0–25 or 0–100, higher better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Two-week recall and rights review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Functioning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WHODAS method-specific score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Version, scoring and license matter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70865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Financial wellbeing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CFPB converted score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Age/mode conversion, local validity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  <a:hlinkClick r:id="rId3"/>
              </a:rPr>
              <a:t>ONS loneliness guidance</a:t>
            </a:r>
            <a:r>
              <a:t> / </a:t>
            </a:r>
            <a:r>
              <a:rPr>
                <a:solidFill>
                  <a:srgbClr val="ABC1CE"/>
                </a:solidFill>
                <a:hlinkClick r:id="rId4"/>
              </a:rPr>
              <a:t>WHO-5 2024</a:t>
            </a:r>
            <a:r>
              <a:t> / </a:t>
            </a:r>
            <a:r>
              <a:rPr>
                <a:solidFill>
                  <a:srgbClr val="ABC1CE"/>
                </a:solidFill>
                <a:hlinkClick r:id="rId5"/>
              </a:rPr>
              <a:t>WHO WHODAS 2.0</a:t>
            </a:r>
            <a:r>
              <a:t> / </a:t>
            </a:r>
            <a:r>
              <a:rPr>
                <a:solidFill>
                  <a:srgbClr val="ABC1CE"/>
                </a:solidFill>
                <a:hlinkClick r:id="rId6"/>
              </a:rPr>
              <a:t>CFPB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demo chooses NO_ACTION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508760"/>
            <a:ext cx="10698480" cy="47548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ABC1CE"/>
                </a:solidFill>
                <a:latin typeface="DejaVu Sans"/>
              </a:defRPr>
            </a:pPr>
            <a:r>
              <a:t>An actual public readback with a deterministic decision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" y="2084831"/>
          <a:ext cx="10835640" cy="3337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834640"/>
                <a:gridCol w="489204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Observed state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Decision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63E2BD"/>
                          </a:solidFill>
                          <a:latin typeface="DejaVu Sans"/>
                        </a:defRPr>
                      </a:pPr>
                      <a:r>
                        <a:t>Scope of the evidence</a:t>
                      </a:r>
                    </a:p>
                  </a:txBody>
                  <a:tcPr marL="118872" marR="118872" marT="73152" marB="73152" anchor="ctr">
                    <a:solidFill>
                      <a:srgbClr val="173046"/>
                    </a:solidFill>
                  </a:tcPr>
                </a:tc>
              </a:tr>
              <a:tr h="94487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6 public pages match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NO_ACTION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An identical publication adds no new artifact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  <a:tr h="94487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0 external writes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Keep the existing release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 new field intervention</a:t>
                      </a:r>
                    </a:p>
                  </a:txBody>
                  <a:tcPr marL="118872" marR="118872" marT="73152" marB="73152" anchor="ctr">
                    <a:solidFill>
                      <a:srgbClr val="081428"/>
                    </a:solidFill>
                  </a:tcPr>
                </a:tc>
              </a:tr>
              <a:tr h="94487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Human outcome unknown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NOT_MEASURED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E9FAFC"/>
                          </a:solidFill>
                          <a:latin typeface="DejaVu Sans"/>
                        </a:defRPr>
                      </a:pPr>
                      <a:r>
                        <a:t>No beneficiary or causal-effect claim</a:t>
                      </a:r>
                    </a:p>
                  </a:txBody>
                  <a:tcPr marL="118872" marR="118872" marT="73152" marB="73152" anchor="ctr">
                    <a:solidFill>
                      <a:srgbClr val="1025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The demo records a real observation and a bounded software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</a:rPr>
              <a:t>Captured decision JSON</a:t>
            </a:r>
            <a:r>
              <a:t> / </a:t>
            </a:r>
            <a:r>
              <a:rPr>
                <a:solidFill>
                  <a:srgbClr val="ABC1CE"/>
                </a:solidFill>
              </a:rPr>
              <a:t>Demo video</a:t>
            </a:r>
            <a:r>
              <a:t> / </a:t>
            </a:r>
            <a:r>
              <a:rPr>
                <a:solidFill>
                  <a:srgbClr val="ABC1CE"/>
                </a:solidFill>
                <a:hlinkClick r:id="rId3"/>
              </a:rPr>
              <a:t>Public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76072"/>
            <a:ext cx="10881360" cy="941832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100" b="1">
                <a:solidFill>
                  <a:srgbClr val="FCFDFE"/>
                </a:solidFill>
                <a:latin typeface="DejaVu Sans"/>
              </a:defRPr>
            </a:pPr>
            <a:r>
              <a:t>The next study must answer a concrete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12848"/>
            <a:ext cx="475488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63E2BD"/>
                </a:solidFill>
                <a:latin typeface="DejaVu Sans"/>
              </a:defRPr>
            </a:pPr>
            <a:r>
              <a:t>Product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2656"/>
            <a:ext cx="4754880" cy="2487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Do people and operators identify navigation as a meaningful barrier?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The five consented interviews remain outstanding.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12848"/>
            <a:ext cx="4754880" cy="59436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63E2BD"/>
                </a:solidFill>
                <a:latin typeface="DejaVu Sans"/>
              </a:defRPr>
            </a:pPr>
            <a:r>
              <a:t>Scientific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62656"/>
            <a:ext cx="4754880" cy="2487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Does improving that journey cause a useful support step at acceptable cost?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E9FAFC"/>
                </a:solidFill>
                <a:latin typeface="DejaVu Sans"/>
              </a:defRPr>
            </a:pPr>
            <a:r>
              <a:t>A partner, protocol and independent outcome data remain outstanding.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0">
                <a:solidFill>
                  <a:srgbClr val="FEB763"/>
                </a:solidFill>
                <a:latin typeface="DejaVu Sans"/>
              </a:defRPr>
            </a:pPr>
            <a:r>
              <a:t>Current contribution: inspectable artifacts and a falsifiable evaluation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6400800"/>
            <a:ext cx="10287000" cy="283464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ABC1CE"/>
                </a:solidFill>
                <a:latin typeface="DejaVu Sans"/>
              </a:defRPr>
            </a:pPr>
            <a:r>
              <a:t>Sources: </a:t>
            </a:r>
            <a:r>
              <a:rPr>
                <a:solidFill>
                  <a:srgbClr val="ABC1CE"/>
                </a:solidFill>
              </a:rPr>
              <a:t>Provisional wedge</a:t>
            </a:r>
            <a:r>
              <a:t> / </a:t>
            </a:r>
            <a:r>
              <a:rPr>
                <a:solidFill>
                  <a:srgbClr val="ABC1CE"/>
                </a:solidFill>
              </a:rPr>
              <a:t>Measurement map</a:t>
            </a:r>
            <a:r>
              <a:t> / </a:t>
            </a:r>
            <a:r>
              <a:rPr>
                <a:solidFill>
                  <a:srgbClr val="ABC1CE"/>
                </a:solidFill>
                <a:hlinkClick r:id="rId3"/>
              </a:rPr>
              <a:t>Manager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82512"/>
            <a:ext cx="411480" cy="29260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63E2BD"/>
                </a:solidFill>
                <a:latin typeface="DejaVu San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BC1CE"/>
      </a:hlink>
      <a:folHlink>
        <a:srgbClr val="63E2B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completion: Research lab</dc:title>
  <dc:subject>English slides and Japanese notes with primary sources</dc:subject>
  <dc:creator>Manager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