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一文の説明は、公的支援へのアクセスを改善し、何が変わったかを検証できる自律型ソフトウェアを開発している、というものです。開発中の目標と現在の実績を区別します。公開試作はありますが、人の生活への改善効果は未測定です。YC W27は準備上の文脈で、応募、面接、採択や締切の確認を意味しません。</a:t>
            </a:r>
          </a:p>
          <a:p/>
          <a:p>
            <a:r>
              <a:t>CLAIM TYPE</a:t>
            </a:r>
          </a:p>
          <a:p>
            <a:r>
              <a:t>PRODUCT_THESIS</a:t>
            </a:r>
          </a:p>
          <a:p/>
          <a:p>
            <a:r>
              <a:t>PRIMARY SOURCES</a:t>
            </a:r>
          </a:p>
          <a:p>
            <a:r>
              <a:t>English/Japanese pitch</a:t>
            </a:r>
          </a:p>
          <a:p>
            <a:r>
              <a:t>products/manager/docs/founder/Y001_MANAGER_PITCH_EN_JA.md</a:t>
            </a:r>
          </a:p>
          <a:p/>
          <a:p>
            <a:r>
              <a:t>Manager evidence definitions</a:t>
            </a:r>
          </a:p>
          <a:p>
            <a:r>
              <a:t>https://github.com/Daisuke134/life-manager/blob/ce75c0add1d9cec7de5ddcb9a9347dbd0c1632e5/products/manager/docs/MANAGER_PRODUCT_SPEC.md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受益者と顧客を分けます。受益者候補は経済的支援の公式な窓口を探す人です。顧客候補はその情報経路を運営する自治体や支援組織などですが、現時点で契約や支払意思を確認したわけではありません。MHLWの公式ページは支援制度の存在を確認する資料であり、利用者の課題仮説を検証する証拠ではありません。5件の同意済み面談がないため、最初の対象選定は暫定です。</a:t>
            </a:r>
          </a:p>
          <a:p/>
          <a:p>
            <a:r>
              <a:t>CLAIM TYPE</a:t>
            </a:r>
          </a:p>
          <a:p>
            <a:r>
              <a:t>CUSTOMER_HYPOTHESIS</a:t>
            </a:r>
          </a:p>
          <a:p/>
          <a:p>
            <a:r>
              <a:t>PRIMARY SOURCES</a:t>
            </a:r>
          </a:p>
          <a:p>
            <a:r>
              <a:t>MHLW livelihood-support system overview</a:t>
            </a:r>
          </a:p>
          <a:p>
            <a:r>
              <a:t>https://www.mhlw.go.jp/stf/seisakunitsuite/bunya/0000059425.html</a:t>
            </a:r>
          </a:p>
          <a:p/>
          <a:p>
            <a:r>
              <a:t>Provisional first wedge</a:t>
            </a:r>
          </a:p>
          <a:p>
            <a:r>
              <a:t>products/manager/docs/product/FIRST_WEDGE.md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この数字は、2026年10月21日14時36分UTCの既存の公開検証記録から取っています。6ページは一つの公開成果物を構成するHTMLであり、6回の人への介入ではありません。16件はブラウザの検査であり、16人の利用者ではありません。配信の確認はP2 artifact onlyです。公的支援に到達した人数や、精神・身体・経済面の改善効果は未測定のままです。後続のコード変更や新しいテスト総数を、この固定された記録に混ぜません。</a:t>
            </a:r>
          </a:p>
          <a:p/>
          <a:p>
            <a:r>
              <a:t>CLAIM TYPE</a:t>
            </a:r>
          </a:p>
          <a:p>
            <a:r>
              <a:t>OBSERVATION</a:t>
            </a:r>
          </a:p>
          <a:p/>
          <a:p>
            <a:r>
              <a:t>PRIMARY SOURCES</a:t>
            </a:r>
          </a:p>
          <a:p>
            <a:r>
              <a:t>Dated digital release evidence</a:t>
            </a:r>
          </a:p>
          <a:p>
            <a:r>
              <a:t>https://github.com/Daisuke134/life-manager/blob/ce75c0add1d9cec7de5ddcb9a9347dbd0c1632e5/products/manager/docs/verification/PHASE06_DIGITAL_SERVICE_EXECUTION_20261021.md</a:t>
            </a:r>
          </a:p>
          <a:p/>
          <a:p>
            <a:r>
              <a:t>Source/build/readback run</a:t>
            </a:r>
          </a:p>
          <a:p>
            <a:r>
              <a:t>https://github.com/Daisuke134/life-manager/actions/runs/39617848783</a:t>
            </a:r>
          </a:p>
          <a:p/>
          <a:p>
            <a:r>
              <a:t>Pages deployment run</a:t>
            </a:r>
          </a:p>
          <a:p>
            <a:r>
              <a:t>https://github.com/Daisuke134/life-manager/actions/runs/39618047098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このデモは、実際の公開HTTPSページを読み戻し、同じ内容を再公開する候補に対してNO_ACTIONを選んだ記録です。JSONのcaptured_atは2026-10-21T16:47:27.352145+00:00です。6ページの観測と外部書き込み0件はこのデモの事実です。新しい配信、資金移動、現地介入、人の結果測定を行ったという意味ではありません。トレース中のローカル権限チェックはP0で、外部プラットフォームの実行権限が必要であることも記録されています。動画とJSONを併せて参照してください。</a:t>
            </a:r>
          </a:p>
          <a:p/>
          <a:p>
            <a:r>
              <a:t>CLAIM TYPE</a:t>
            </a:r>
          </a:p>
          <a:p>
            <a:r>
              <a:t>OBSERVATION</a:t>
            </a:r>
          </a:p>
          <a:p/>
          <a:p>
            <a:r>
              <a:t>PRIMARY SOURCES</a:t>
            </a:r>
          </a:p>
          <a:p>
            <a:r>
              <a:t>Captured NO_ACTION decision</a:t>
            </a:r>
          </a:p>
          <a:p>
            <a:r>
              <a:t>products/manager/docs/demos/manager-public-no-action-20261022.json</a:t>
            </a:r>
          </a:p>
          <a:p/>
          <a:p>
            <a:r>
              <a:t>Recorded public-readback demo</a:t>
            </a:r>
          </a:p>
          <a:p>
            <a:r>
              <a:t>products/manager/docs/demos/manager-public-no-action-20261022.mp4</a:t>
            </a:r>
          </a:p>
          <a:p/>
          <a:p>
            <a:r>
              <a:t>Live support-navigation prototype</a:t>
            </a:r>
          </a:p>
          <a:p>
            <a:r>
              <a:t>https://daisuke134.github.io/life-manager/manager-support/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技術的な仮説は、権限、実行、独立した状態確認、その後の結果を追跡できることが運営者に役立つというものです。事業面では、情報経路の維持や評価への支払意思を確認する必要があります。市場規模、売上、顧客パイプラインを仮の数字で埋めません。また、他社も人の検証を行っているため、未検証の独占的優位性は主張しません。</a:t>
            </a:r>
          </a:p>
          <a:p/>
          <a:p>
            <a:r>
              <a:t>CLAIM TYPE</a:t>
            </a:r>
          </a:p>
          <a:p>
            <a:r>
              <a:t>BUSINESS_HYPOTHESIS</a:t>
            </a:r>
          </a:p>
          <a:p/>
          <a:p>
            <a:r>
              <a:t>PRIMARY SOURCES</a:t>
            </a:r>
          </a:p>
          <a:p>
            <a:r>
              <a:t>English/Japanese pitch</a:t>
            </a:r>
          </a:p>
          <a:p>
            <a:r>
              <a:t>products/manager/docs/founder/Y001_MANAGER_PITCH_EN_JA.md</a:t>
            </a:r>
          </a:p>
          <a:p/>
          <a:p>
            <a:r>
              <a:t>Provisional first wedge</a:t>
            </a:r>
          </a:p>
          <a:p>
            <a:r>
              <a:t>products/manager/docs/product/FIRST_WEDGE.md</a:t>
            </a:r>
          </a:p>
          <a:p/>
          <a:p>
            <a:r>
              <a:t>Simile official company site</a:t>
            </a:r>
          </a:p>
          <a:p>
            <a:r>
              <a:t>https://www.simile.com/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次の段階は、面談、実際の運営者、事前に定めた評価、顧客価値の確認です。これは達成済みの実績表ではありません。面談で課題が否定された場合には対象候補を変えます。実際の支援ステップが観測できない場合には、配信試作の範囲に主張を留めます。資料の提示は応募や連絡の送信ではなく、発表の開催日時も未確認です。</a:t>
            </a:r>
          </a:p>
          <a:p/>
          <a:p>
            <a:r>
              <a:t>CLAIM TYPE</a:t>
            </a:r>
          </a:p>
          <a:p>
            <a:r>
              <a:t>PROPOSED_MILESTONES</a:t>
            </a:r>
          </a:p>
          <a:p/>
          <a:p>
            <a:r>
              <a:t>PRIMARY SOURCES</a:t>
            </a:r>
          </a:p>
          <a:p>
            <a:r>
              <a:t>Provisional first wedge</a:t>
            </a:r>
          </a:p>
          <a:p>
            <a:r>
              <a:t>products/manager/docs/product/FIRST_WEDGE.md</a:t>
            </a:r>
          </a:p>
          <a:p/>
          <a:p>
            <a:r>
              <a:t>English/Japanese pitch</a:t>
            </a:r>
          </a:p>
          <a:p>
            <a:r>
              <a:t>products/manager/docs/founder/Y001_MANAGER_PITCH_EN_JA.md</a:t>
            </a:r>
          </a:p>
          <a:p/>
          <a:p>
            <a:r>
              <a:t>Manager evidence definitions</a:t>
            </a:r>
          </a:p>
          <a:p>
            <a:r>
              <a:t>https://github.com/Daisuke134/life-manager/blob/ce75c0add1d9cec7de5ddcb9a9347dbd0c1632e5/products/manager/docs/MANAGER_PRODUCT_SPEC.md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Daisuke134/life-manager/blob/ce75c0add1d9cec7de5ddcb9a9347dbd0c1632e5/products/manager/docs/MANAGER_PRODUCT_SPEC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mhlw.go.jp/stf/seisakunitsuite/bunya/0000059425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Daisuke134/life-manager/blob/ce75c0add1d9cec7de5ddcb9a9347dbd0c1632e5/products/manager/docs/verification/PHASE06_DIGITAL_SERVICE_EXECUTION_20261021.md" TargetMode="External"/><Relationship Id="rId4" Type="http://schemas.openxmlformats.org/officeDocument/2006/relationships/hyperlink" Target="https://github.com/Daisuke134/life-manager/actions/runs/39617848783" TargetMode="External"/><Relationship Id="rId5" Type="http://schemas.openxmlformats.org/officeDocument/2006/relationships/hyperlink" Target="https://github.com/Daisuke134/life-manager/actions/runs/39618047098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aisuke134.github.io/life-manager/manager-support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simile.com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Daisuke134/life-manager/blob/ce75c0add1d9cec7de5ddcb9a9347dbd0c1632e5/products/manager/docs/MANAGER_PRODUCT_SPEC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758952"/>
            <a:ext cx="10744200" cy="59436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63E2BD"/>
                </a:solidFill>
                <a:latin typeface="DejaVu Sans"/>
              </a:defRPr>
            </a:pPr>
            <a:r>
              <a:t>Autonomous software for access to public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92807"/>
            <a:ext cx="10789920" cy="192024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4600" b="1">
                <a:solidFill>
                  <a:srgbClr val="FCFDFE"/>
                </a:solidFill>
                <a:latin typeface="DejaVu Sans"/>
              </a:defRPr>
            </a:pPr>
            <a:r>
              <a:t>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4663440"/>
            <a:ext cx="10515600" cy="91440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E9FAFC"/>
                </a:solidFill>
                <a:latin typeface="DejaVu Sans"/>
              </a:defRPr>
            </a:pPr>
            <a:r>
              <a:t>We are building auditable evidence of what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</a:rPr>
              <a:t>Pitch evidence</a:t>
            </a:r>
            <a:r>
              <a:t> / </a:t>
            </a:r>
            <a:r>
              <a:rPr>
                <a:solidFill>
                  <a:srgbClr val="ABC1CE"/>
                </a:solidFill>
                <a:hlinkClick r:id="rId3"/>
              </a:rPr>
              <a:t>Manager 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76072"/>
            <a:ext cx="10881360" cy="94183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100" b="1">
                <a:solidFill>
                  <a:srgbClr val="FCFDFE"/>
                </a:solidFill>
                <a:latin typeface="DejaVu Sans"/>
              </a:defRPr>
            </a:pPr>
            <a:r>
              <a:t>The first customer problem is a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12848"/>
            <a:ext cx="4754880" cy="59436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63E2BD"/>
                </a:solidFill>
                <a:latin typeface="DejaVu Sans"/>
              </a:defRPr>
            </a:pPr>
            <a:r>
              <a:t>Potential beneficiary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62656"/>
            <a:ext cx="4754880" cy="2487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  <a:r>
              <a:t>A person trying to find the right official route for financial support.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  <a:r>
              <a:t>The prototype offers a public navigation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12848"/>
            <a:ext cx="4754880" cy="59436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63E2BD"/>
                </a:solidFill>
                <a:latin typeface="DejaVu Sans"/>
              </a:defRPr>
            </a:pPr>
            <a:r>
              <a:t>Potential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62656"/>
            <a:ext cx="4754880" cy="2487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  <a:r>
              <a:t>An organization responsible for a support-information journey.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  <a:r>
              <a:t>Demand and willingness to pay remain unvalidated.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89920" cy="50292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50" b="0">
                <a:solidFill>
                  <a:srgbClr val="FEB763"/>
                </a:solidFill>
                <a:latin typeface="DejaVu Sans"/>
              </a:defRPr>
            </a:pPr>
            <a:r>
              <a:t>Five consented interviews are still required before the wedge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  <a:hlinkClick r:id="rId3"/>
              </a:rPr>
              <a:t>MHLW support overview</a:t>
            </a:r>
            <a:r>
              <a:t> / </a:t>
            </a:r>
            <a:r>
              <a:rPr>
                <a:solidFill>
                  <a:srgbClr val="ABC1CE"/>
                </a:solidFill>
              </a:rPr>
              <a:t>Provisional wedge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76072"/>
            <a:ext cx="10881360" cy="94183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100" b="1">
                <a:solidFill>
                  <a:srgbClr val="FCFDFE"/>
                </a:solidFill>
                <a:latin typeface="DejaVu Sans"/>
              </a:defRPr>
            </a:pPr>
            <a:r>
              <a:t>The public artifact is verifiable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508760"/>
            <a:ext cx="10698480" cy="47548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Recorded verification: 21 October 2026, 14:36 UTC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4754880" cy="114300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7400" b="1">
                <a:solidFill>
                  <a:srgbClr val="63E2BD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85032"/>
            <a:ext cx="4800600" cy="75895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FCFDFE"/>
                </a:solidFill>
                <a:latin typeface="DejaVu Sans"/>
              </a:defRPr>
            </a:pPr>
            <a:r>
              <a:t>HTML pages matched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90872"/>
            <a:ext cx="4800600" cy="59436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One public product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40280"/>
            <a:ext cx="4754880" cy="114300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7400" b="1">
                <a:solidFill>
                  <a:srgbClr val="63E2BD"/>
                </a:solidFill>
                <a:latin typeface="DejaVu San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85032"/>
            <a:ext cx="4800600" cy="75895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FCFDFE"/>
                </a:solidFill>
                <a:latin typeface="DejaVu Sans"/>
              </a:defRPr>
            </a:pPr>
            <a:r>
              <a:t>Public browser checks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90872"/>
            <a:ext cx="4800600" cy="59436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Software scenarios, not participants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42432"/>
            <a:ext cx="10789920" cy="50292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50" b="0">
                <a:solidFill>
                  <a:srgbClr val="FEB763"/>
                </a:solidFill>
                <a:latin typeface="DejaVu Sans"/>
              </a:defRPr>
            </a:pPr>
            <a:r>
              <a:t>P2 artifact only. Human outcomes remain NOT_MEASURED.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  <a:hlinkClick r:id="rId3"/>
              </a:rPr>
              <a:t>Release record</a:t>
            </a:r>
            <a:r>
              <a:t> / </a:t>
            </a:r>
            <a:r>
              <a:rPr>
                <a:solidFill>
                  <a:srgbClr val="ABC1CE"/>
                </a:solidFill>
                <a:hlinkClick r:id="rId4"/>
              </a:rPr>
              <a:t>Readback CI</a:t>
            </a:r>
            <a:r>
              <a:t> / </a:t>
            </a:r>
            <a:r>
              <a:rPr>
                <a:solidFill>
                  <a:srgbClr val="ABC1CE"/>
                </a:solidFill>
                <a:hlinkClick r:id="rId5"/>
              </a:rPr>
              <a:t>Pages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76072"/>
            <a:ext cx="10881360" cy="94183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100" b="1">
                <a:solidFill>
                  <a:srgbClr val="FCFDFE"/>
                </a:solidFill>
                <a:latin typeface="DejaVu Sans"/>
              </a:defRPr>
            </a:pPr>
            <a:r>
              <a:t>The demo chooses NO_ACTION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508760"/>
            <a:ext cx="10698480" cy="47548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An actual public readback with a deterministic decision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" y="2084831"/>
          <a:ext cx="10835640" cy="3337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834640"/>
                <a:gridCol w="4892040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Observed state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Decision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Scope of the evidence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</a:tr>
              <a:tr h="94487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6 public pages match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NO_ACTION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An identical publication adds no new artifact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94487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0 external writes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Keep the existing release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 new field intervention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  <a:tr h="94487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Human outcome unknown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NOT_MEASURED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 beneficiary or causal-effect claim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42432"/>
            <a:ext cx="10789920" cy="50292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50" b="0">
                <a:solidFill>
                  <a:srgbClr val="FEB763"/>
                </a:solidFill>
                <a:latin typeface="DejaVu Sans"/>
              </a:defRPr>
            </a:pPr>
            <a:r>
              <a:t>The demo records a real observation and a bounded software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</a:rPr>
              <a:t>Captured decision JSON</a:t>
            </a:r>
            <a:r>
              <a:t> / </a:t>
            </a:r>
            <a:r>
              <a:rPr>
                <a:solidFill>
                  <a:srgbClr val="ABC1CE"/>
                </a:solidFill>
              </a:rPr>
              <a:t>Demo video</a:t>
            </a:r>
            <a:r>
              <a:t> / </a:t>
            </a:r>
            <a:r>
              <a:rPr>
                <a:solidFill>
                  <a:srgbClr val="ABC1CE"/>
                </a:solidFill>
                <a:hlinkClick r:id="rId3"/>
              </a:rPr>
              <a:t>Public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76072"/>
            <a:ext cx="10881360" cy="94183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100" b="1">
                <a:solidFill>
                  <a:srgbClr val="FCFDFE"/>
                </a:solidFill>
                <a:latin typeface="DejaVu Sans"/>
              </a:defRPr>
            </a:pPr>
            <a:r>
              <a:t>The product and business 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12848"/>
            <a:ext cx="4754880" cy="59436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63E2BD"/>
                </a:solidFill>
                <a:latin typeface="DejaVu Sans"/>
              </a:defRPr>
            </a:pPr>
            <a:r>
              <a:t>Product value to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62656"/>
            <a:ext cx="4754880" cy="2487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  <a:r>
              <a:t>An operator can inspect what the software was allowed to do and what it actually changed.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  <a:r>
              <a:t>Human outcomes have their own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12848"/>
            <a:ext cx="4754880" cy="59436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63E2BD"/>
                </a:solidFill>
                <a:latin typeface="DejaVu Sans"/>
              </a:defRPr>
            </a:pPr>
            <a:r>
              <a:t>Commercial value to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62656"/>
            <a:ext cx="4754880" cy="2487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  <a:r>
              <a:t>A service operator may pay for maintaining and evaluating a support journey.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  <a:r>
              <a:t>No validated pricing or revenue claim is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89920" cy="50292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50" b="0">
                <a:solidFill>
                  <a:srgbClr val="FEB763"/>
                </a:solidFill>
                <a:latin typeface="DejaVu Sans"/>
              </a:defRPr>
            </a:pPr>
            <a:r>
              <a:t>The immediate test is a real operator problem and a measurable support 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</a:rPr>
              <a:t>Pitch evidence</a:t>
            </a:r>
            <a:r>
              <a:t> / </a:t>
            </a:r>
            <a:r>
              <a:rPr>
                <a:solidFill>
                  <a:srgbClr val="ABC1CE"/>
                </a:solidFill>
              </a:rPr>
              <a:t>Provisional wedge</a:t>
            </a:r>
            <a:r>
              <a:t> / </a:t>
            </a:r>
            <a:r>
              <a:rPr>
                <a:solidFill>
                  <a:srgbClr val="ABC1CE"/>
                </a:solidFill>
                <a:hlinkClick r:id="rId3"/>
              </a:rPr>
              <a:t>Simile official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76072"/>
            <a:ext cx="10881360" cy="94183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100" b="1">
                <a:solidFill>
                  <a:srgbClr val="FCFDFE"/>
                </a:solidFill>
                <a:latin typeface="DejaVu Sans"/>
              </a:defRPr>
            </a:pPr>
            <a:r>
              <a:t>The next decisive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508760"/>
            <a:ext cx="10698480" cy="47548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Each milestone answers an unresolved question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" y="2084831"/>
          <a:ext cx="10835640" cy="333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4572000"/>
                <a:gridCol w="3017520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Milestone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Question it answers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Current status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Five consented interviews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Is navigation a material barrier?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Outstanding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An operating partner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Can we observe a real support task?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Not secured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A prospective evaluation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Does a change improve that task?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Not run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A customer commitment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Will an operator pay for the value?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Unvalidated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42432"/>
            <a:ext cx="10789920" cy="50292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50" b="0">
                <a:solidFill>
                  <a:srgbClr val="FEB763"/>
                </a:solidFill>
                <a:latin typeface="DejaVu Sans"/>
              </a:defRPr>
            </a:pPr>
            <a:r>
              <a:t>Current evidence: a live artifact. Human benefit remains NOT_MEASURED.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</a:rPr>
              <a:t>Provisional wedge</a:t>
            </a:r>
            <a:r>
              <a:t> / </a:t>
            </a:r>
            <a:r>
              <a:rPr>
                <a:solidFill>
                  <a:srgbClr val="ABC1CE"/>
                </a:solidFill>
              </a:rPr>
              <a:t>Pitch evidence</a:t>
            </a:r>
            <a:r>
              <a:t> / </a:t>
            </a:r>
            <a:r>
              <a:rPr>
                <a:solidFill>
                  <a:srgbClr val="ABC1CE"/>
                </a:solidFill>
                <a:hlinkClick r:id="rId3"/>
              </a:rPr>
              <a:t>Manager 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BC1CE"/>
      </a:hlink>
      <a:folHlink>
        <a:srgbClr val="63E2B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 completion: YC</dc:title>
  <dc:subject>English slides and Japanese notes with primary sources</dc:subject>
  <dc:creator>Manager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